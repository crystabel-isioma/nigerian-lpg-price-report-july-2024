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harts/chartEx1.xml" ContentType="application/vnd.ms-office.chartex+xml"/>
  <Override PartName="/ppt/charts/style1.xml" ContentType="application/vnd.ms-office.chartstyle+xml"/>
  <Override PartName="/ppt/charts/colors1.xml" ContentType="application/vnd.ms-office.chartcolorstyle+xml"/>
  <Override PartName="/ppt/charts/chart1.xml" ContentType="application/vnd.openxmlformats-officedocument.drawingml.chart+xml"/>
  <Override PartName="/ppt/charts/style2.xml" ContentType="application/vnd.ms-office.chartstyle+xml"/>
  <Override PartName="/ppt/charts/colors2.xml" ContentType="application/vnd.ms-office.chartcolorstyl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8" r:id="rId3"/>
    <p:sldId id="259" r:id="rId4"/>
    <p:sldId id="260" r:id="rId5"/>
    <p:sldId id="261" r:id="rId6"/>
    <p:sldId id="257" r:id="rId7"/>
  </p:sldIdLst>
  <p:sldSz cx="12192000" cy="6858000"/>
  <p:notesSz cx="6858000" cy="9144000"/>
  <p:defaultTextStyle>
    <a:defPPr>
      <a:defRPr lang="en-NG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DC0E0E"/>
    <a:srgbClr val="E45959"/>
    <a:srgbClr val="F2F2F2"/>
    <a:srgbClr val="B87C4C"/>
    <a:srgbClr val="D7C097"/>
    <a:srgbClr val="CE7E5A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7004" autoAdjust="0"/>
    <p:restoredTop sz="94140" autoAdjust="0"/>
  </p:normalViewPr>
  <p:slideViewPr>
    <p:cSldViewPr snapToGrid="0">
      <p:cViewPr varScale="1">
        <p:scale>
          <a:sx n="67" d="100"/>
          <a:sy n="67" d="100"/>
        </p:scale>
        <p:origin x="102" y="15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ableStyles" Target="tableStyles.xml"/><Relationship Id="rId5" Type="http://schemas.openxmlformats.org/officeDocument/2006/relationships/slide" Target="slides/slide4.xml"/><Relationship Id="rId10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viewProps" Target="viewProps.xml"/></Relationships>
</file>

<file path=ppt/charts/_rels/chart1.xml.rels><?xml version="1.0" encoding="UTF-8" standalone="yes"?>
<Relationships xmlns="http://schemas.openxmlformats.org/package/2006/relationships"><Relationship Id="rId3" Type="http://schemas.openxmlformats.org/officeDocument/2006/relationships/oleObject" Target="file:///C:\Users\USER%20PC\Downloads\GAS_PRICE_WATCH_JULY_2024.xlsx" TargetMode="External"/><Relationship Id="rId2" Type="http://schemas.microsoft.com/office/2011/relationships/chartColorStyle" Target="colors2.xml"/><Relationship Id="rId1" Type="http://schemas.microsoft.com/office/2011/relationships/chartStyle" Target="style2.xml"/></Relationships>
</file>

<file path=ppt/charts/_rels/chartEx1.xml.rels><?xml version="1.0" encoding="UTF-8" standalone="yes"?>
<Relationships xmlns="http://schemas.openxmlformats.org/package/2006/relationships"><Relationship Id="rId3" Type="http://schemas.microsoft.com/office/2011/relationships/chartColorStyle" Target="colors1.xml"/><Relationship Id="rId2" Type="http://schemas.microsoft.com/office/2011/relationships/chartStyle" Target="style1.xml"/><Relationship Id="rId1" Type="http://schemas.openxmlformats.org/officeDocument/2006/relationships/oleObject" Target="file:///C:\Users\USER%20PC\Downloads\GAS_PRICE_WATCH_JULY_2024.xlsx" TargetMode="External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'EDIT 5KG'!$U$11</c:f>
              <c:strCache>
                <c:ptCount val="1"/>
                <c:pt idx="0">
                  <c:v>YoY</c:v>
                </c:pt>
              </c:strCache>
            </c:strRef>
          </c:tx>
          <c:spPr>
            <a:solidFill>
              <a:srgbClr val="DC0E0E">
                <a:alpha val="9000"/>
              </a:srgbClr>
            </a:solidFill>
            <a:ln>
              <a:noFill/>
            </a:ln>
            <a:effectLst/>
          </c:spPr>
          <c:invertIfNegative val="0"/>
          <c:dPt>
            <c:idx val="0"/>
            <c:invertIfNegative val="0"/>
            <c:bubble3D val="0"/>
            <c:spPr>
              <a:solidFill>
                <a:srgbClr val="DC0E0E">
                  <a:alpha val="67000"/>
                </a:srgbClr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2-32FD-4B98-9663-2A783319FAB8}"/>
              </c:ext>
            </c:extLst>
          </c:dPt>
          <c:dLbls>
            <c:dLbl>
              <c:idx val="0"/>
              <c:spPr>
                <a:noFill/>
                <a:ln>
                  <a:noFill/>
                </a:ln>
                <a:effectLst/>
              </c:spPr>
              <c:txPr>
                <a:bodyPr rot="0" spcFirstLastPara="1" vertOverflow="ellipsis" vert="horz" wrap="square" lIns="38100" tIns="19050" rIns="38100" bIns="19050" anchor="ctr" anchorCtr="1">
                  <a:spAutoFit/>
                </a:bodyPr>
                <a:lstStyle/>
                <a:p>
                  <a:pPr>
                    <a:defRPr sz="1400" b="1" i="0" u="none" strike="noStrike" kern="1200" baseline="0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latin typeface="Bahnschrift" panose="020B0502040204020203" pitchFamily="34" charset="0"/>
                      <a:ea typeface="+mn-ea"/>
                      <a:cs typeface="+mn-cs"/>
                    </a:defRPr>
                  </a:pPr>
                  <a:endParaRPr lang="en-NG"/>
                </a:p>
              </c:txPr>
              <c:dLblPos val="outEnd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6="http://schemas.microsoft.com/office/drawing/2014/chart" uri="{C3380CC4-5D6E-409C-BE32-E72D297353CC}">
                  <c16:uniqueId val="{00000002-32FD-4B98-9663-2A783319FAB8}"/>
                </c:ext>
              </c:extLst>
            </c:dLbl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1400" b="0" i="0" u="none" strike="noStrike" kern="120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Bahnschrift" panose="020B0502040204020203" pitchFamily="34" charset="0"/>
                    <a:ea typeface="+mn-ea"/>
                    <a:cs typeface="+mn-cs"/>
                  </a:defRPr>
                </a:pPr>
                <a:endParaRPr lang="en-NG"/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'EDIT 5KG'!$T$12:$T$16</c:f>
              <c:strCache>
                <c:ptCount val="5"/>
                <c:pt idx="0">
                  <c:v>Borno</c:v>
                </c:pt>
                <c:pt idx="1">
                  <c:v>Nasarawa</c:v>
                </c:pt>
                <c:pt idx="2">
                  <c:v>Ekiti</c:v>
                </c:pt>
                <c:pt idx="3">
                  <c:v>Ondo</c:v>
                </c:pt>
                <c:pt idx="4">
                  <c:v>Gombe</c:v>
                </c:pt>
              </c:strCache>
            </c:strRef>
          </c:cat>
          <c:val>
            <c:numRef>
              <c:f>'EDIT 5KG'!$U$12:$U$16</c:f>
              <c:numCache>
                <c:formatCode>0.00%</c:formatCode>
                <c:ptCount val="5"/>
                <c:pt idx="0">
                  <c:v>0.87266886935299304</c:v>
                </c:pt>
                <c:pt idx="1">
                  <c:v>0.864746093749998</c:v>
                </c:pt>
                <c:pt idx="2">
                  <c:v>0.76967358299595301</c:v>
                </c:pt>
                <c:pt idx="3">
                  <c:v>0.76560121765601197</c:v>
                </c:pt>
                <c:pt idx="4">
                  <c:v>0.72170072332843005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32FD-4B98-9663-2A783319FAB8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100"/>
        <c:overlap val="-27"/>
        <c:axId val="68648144"/>
        <c:axId val="68648560"/>
      </c:barChart>
      <c:catAx>
        <c:axId val="68648144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noFill/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4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Bahnschrift" panose="020B0502040204020203" pitchFamily="34" charset="0"/>
                <a:ea typeface="+mn-ea"/>
                <a:cs typeface="+mn-cs"/>
              </a:defRPr>
            </a:pPr>
            <a:endParaRPr lang="en-NG"/>
          </a:p>
        </c:txPr>
        <c:crossAx val="68648560"/>
        <c:crosses val="autoZero"/>
        <c:auto val="1"/>
        <c:lblAlgn val="ctr"/>
        <c:lblOffset val="100"/>
        <c:noMultiLvlLbl val="0"/>
      </c:catAx>
      <c:valAx>
        <c:axId val="68648560"/>
        <c:scaling>
          <c:orientation val="minMax"/>
        </c:scaling>
        <c:delete val="1"/>
        <c:axPos val="l"/>
        <c:numFmt formatCode="0.00%" sourceLinked="1"/>
        <c:majorTickMark val="none"/>
        <c:minorTickMark val="none"/>
        <c:tickLblPos val="nextTo"/>
        <c:crossAx val="6864814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gap"/>
    <c:showDLblsOverMax val="0"/>
  </c:chart>
  <c:spPr>
    <a:noFill/>
    <a:ln>
      <a:noFill/>
    </a:ln>
    <a:effectLst/>
  </c:spPr>
  <c:txPr>
    <a:bodyPr/>
    <a:lstStyle/>
    <a:p>
      <a:pPr>
        <a:defRPr/>
      </a:pPr>
      <a:endParaRPr lang="en-NG"/>
    </a:p>
  </c:txPr>
  <c:externalData r:id="rId3">
    <c:autoUpdate val="0"/>
  </c:externalData>
</c:chartSpace>
</file>

<file path=ppt/charts/chartEx1.xml><?xml version="1.0" encoding="utf-8"?>
<cx:chartSpace xmlns:a="http://schemas.openxmlformats.org/drawingml/2006/main" xmlns:r="http://schemas.openxmlformats.org/officeDocument/2006/relationships" xmlns:cx="http://schemas.microsoft.com/office/drawing/2014/chartex">
  <cx:chartData>
    <cx:externalData r:id="rId1" cx:autoUpdate="0"/>
    <cx:data id="0">
      <cx:strDim type="cat">
        <cx:f>'EDIT 5KG'!$W$12:$W$16</cx:f>
        <cx:lvl ptCount="5">
          <cx:pt idx="0">Cross River</cx:pt>
          <cx:pt idx="1">Kogi</cx:pt>
          <cx:pt idx="2">Ebonyi</cx:pt>
          <cx:pt idx="3">Osun</cx:pt>
          <cx:pt idx="4">Edo</cx:pt>
        </cx:lvl>
      </cx:strDim>
      <cx:numDim type="val">
        <cx:f>'EDIT 5KG'!$X$12:$X$16</cx:f>
        <cx:lvl ptCount="5" formatCode="0.00%">
          <cx:pt idx="0">-0.230757711889787</cx:pt>
          <cx:pt idx="1">-0.23176463459264601</cx:pt>
          <cx:pt idx="2">-0.23406903106209601</cx:pt>
          <cx:pt idx="3">-0.271520146520147</cx:pt>
          <cx:pt idx="4">-0.28100358422939098</cx:pt>
        </cx:lvl>
      </cx:numDim>
    </cx:data>
  </cx:chartData>
  <cx:chart>
    <cx:plotArea>
      <cx:plotAreaRegion>
        <cx:series layoutId="waterfall" uniqueId="{81F177AF-4459-4D4E-A469-D5130E6049D5}">
          <cx:tx>
            <cx:txData>
              <cx:f>'EDIT 5KG'!$X$11</cx:f>
              <cx:v>mom</cx:v>
            </cx:txData>
          </cx:tx>
          <cx:spPr>
            <a:solidFill>
              <a:srgbClr val="00B050">
                <a:alpha val="30000"/>
              </a:srgbClr>
            </a:solidFill>
          </cx:spPr>
          <cx:dataPt idx="4">
            <cx:spPr>
              <a:solidFill>
                <a:srgbClr val="00B050"/>
              </a:solidFill>
            </cx:spPr>
          </cx:dataPt>
          <cx:dataLabels pos="outEnd">
            <cx:txPr>
              <a:bodyPr spcFirstLastPara="1" vertOverflow="ellipsis" horzOverflow="overflow" wrap="square" lIns="0" tIns="0" rIns="0" bIns="0" anchor="ctr" anchorCtr="1"/>
              <a:lstStyle/>
              <a:p>
                <a:pPr algn="ctr" rtl="0">
                  <a:defRPr sz="1400" b="0">
                    <a:latin typeface="Bahnschrift" panose="020B0502040204020203" pitchFamily="34" charset="0"/>
                    <a:ea typeface="Bahnschrift" panose="020B0502040204020203" pitchFamily="34" charset="0"/>
                    <a:cs typeface="Bahnschrift" panose="020B0502040204020203" pitchFamily="34" charset="0"/>
                  </a:defRPr>
                </a:pPr>
                <a:endParaRPr lang="en-US" sz="1400" b="0" i="0" u="none" strike="noStrike" baseline="0">
                  <a:solidFill>
                    <a:prstClr val="black">
                      <a:lumMod val="65000"/>
                      <a:lumOff val="35000"/>
                    </a:prstClr>
                  </a:solidFill>
                  <a:latin typeface="Bahnschrift" panose="020B0502040204020203" pitchFamily="34" charset="0"/>
                </a:endParaRPr>
              </a:p>
            </cx:txPr>
            <cx:visibility seriesName="0" categoryName="0" value="1"/>
            <cx:dataLabel idx="4">
              <cx:txPr>
                <a:bodyPr spcFirstLastPara="1" vertOverflow="ellipsis" horzOverflow="overflow" wrap="square" lIns="0" tIns="0" rIns="0" bIns="0" anchor="ctr" anchorCtr="1"/>
                <a:lstStyle/>
                <a:p>
                  <a:pPr algn="ctr" rtl="0">
                    <a:defRPr b="1"/>
                  </a:pPr>
                  <a:r>
                    <a:rPr lang="en-US" sz="1400" b="1" i="0" u="none" strike="noStrike" baseline="0">
                      <a:solidFill>
                        <a:prstClr val="black">
                          <a:lumMod val="65000"/>
                          <a:lumOff val="35000"/>
                        </a:prstClr>
                      </a:solidFill>
                      <a:latin typeface="Bahnschrift" panose="020B0502040204020203" pitchFamily="34" charset="0"/>
                    </a:rPr>
                    <a:t>-28.10%</a:t>
                  </a:r>
                </a:p>
              </cx:txPr>
            </cx:dataLabel>
          </cx:dataLabels>
          <cx:dataId val="0"/>
          <cx:layoutPr>
            <cx:subtotals/>
          </cx:layoutPr>
        </cx:series>
      </cx:plotAreaRegion>
      <cx:axis id="0">
        <cx:catScaling gapWidth="0.409999996"/>
        <cx:tickLabels/>
        <cx:spPr>
          <a:ln>
            <a:noFill/>
          </a:ln>
        </cx:spPr>
        <cx:txPr>
          <a:bodyPr spcFirstLastPara="1" vertOverflow="ellipsis" horzOverflow="overflow" wrap="square" lIns="0" tIns="0" rIns="0" bIns="0" anchor="ctr" anchorCtr="1"/>
          <a:lstStyle/>
          <a:p>
            <a:pPr algn="ctr" rtl="0">
              <a:defRPr sz="1400" b="0">
                <a:latin typeface="Bahnschrift" panose="020B0502040204020203" pitchFamily="34" charset="0"/>
                <a:ea typeface="Bahnschrift" panose="020B0502040204020203" pitchFamily="34" charset="0"/>
                <a:cs typeface="Bahnschrift" panose="020B0502040204020203" pitchFamily="34" charset="0"/>
              </a:defRPr>
            </a:pPr>
            <a:endParaRPr lang="en-US" sz="1400" b="0" i="0" u="none" strike="noStrike" baseline="0">
              <a:solidFill>
                <a:prstClr val="black">
                  <a:lumMod val="65000"/>
                  <a:lumOff val="35000"/>
                </a:prstClr>
              </a:solidFill>
              <a:latin typeface="Bahnschrift" panose="020B0502040204020203" pitchFamily="34" charset="0"/>
            </a:endParaRPr>
          </a:p>
        </cx:txPr>
      </cx:axis>
      <cx:axis id="1" hidden="1">
        <cx:valScaling/>
        <cx:tickLabels/>
      </cx:axis>
    </cx:plotArea>
  </cx:chart>
</cx:chartSpace>
</file>

<file path=ppt/charts/colors1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2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style1.xml><?xml version="1.0" encoding="utf-8"?>
<cs:chartStyle xmlns:cs="http://schemas.microsoft.com/office/drawing/2012/chartStyle" xmlns:a="http://schemas.openxmlformats.org/drawingml/2006/main" id="395">
  <cs:axisTitle>
    <cs:lnRef idx="0"/>
    <cs:fillRef idx="0"/>
    <cs:effectRef idx="0"/>
    <cs:fontRef idx="minor">
      <a:schemeClr val="tx1">
        <a:lumMod val="65000"/>
        <a:lumOff val="35000"/>
      </a:schemeClr>
    </cs:fontRef>
    <cs:defRPr sz="9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/>
  </cs:chartArea>
  <cs:dataLabel>
    <cs:lnRef idx="0"/>
    <cs:fillRef idx="0"/>
    <cs:effectRef idx="0"/>
    <cs:fontRef idx="minor">
      <a:schemeClr val="tx1">
        <a:lumMod val="65000"/>
        <a:lumOff val="35000"/>
      </a:schemeClr>
    </cs:fontRef>
    <cs:defRPr sz="9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0">
      <cs:styleClr val="auto"/>
    </cs:fillRef>
    <cs:effectRef idx="0"/>
    <cs:fontRef idx="minor">
      <a:schemeClr val="tx1"/>
    </cs:fontRef>
    <cs:spPr>
      <a:solidFill>
        <a:schemeClr val="phClr"/>
      </a:solidFill>
    </cs:spPr>
  </cs:dataPoint>
  <cs:dataPoint3D>
    <cs:lnRef idx="0"/>
    <cs:fillRef idx="0">
      <cs:styleClr val="auto"/>
    </cs:fillRef>
    <cs:effectRef idx="0"/>
    <cs:fontRef idx="minor">
      <a:schemeClr val="tx1"/>
    </cs:fontRef>
    <cs:spPr>
      <a:solidFill>
        <a:schemeClr val="phClr"/>
      </a:solidFill>
    </cs:spPr>
  </cs:dataPoint3D>
  <cs:dataPointLine>
    <cs:lnRef idx="0">
      <cs:styleClr val="auto"/>
    </cs:lnRef>
    <cs:fillRef idx="0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/>
    <cs:fillRef idx="0">
      <cs:styleClr val="auto"/>
    </cs:fillRef>
    <cs:effectRef idx="0"/>
    <cs:fontRef idx="minor">
      <a:schemeClr val="tx1"/>
    </cs:fontRef>
    <cs:spPr>
      <a:solidFill>
        <a:schemeClr val="phClr"/>
      </a:solidFill>
      <a:ln w="9525">
        <a:solidFill>
          <a:schemeClr val="lt1"/>
        </a:solidFill>
      </a:ln>
    </cs:spPr>
  </cs:dataPointMarker>
  <cs:dataPointMarkerLayout symbol="circle" size="5"/>
  <cs:dataPointWireframe>
    <cs:lnRef idx="0">
      <cs:styleClr val="auto"/>
    </cs:lnRef>
    <cs:fillRef idx="0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ln w="9525">
        <a:solidFill>
          <a:schemeClr val="tx1">
            <a:lumMod val="15000"/>
            <a:lumOff val="85000"/>
          </a:schemeClr>
        </a:solidFill>
      </a:ln>
    </cs:spPr>
    <cs:defRPr sz="9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/>
  </cs:seriesAxis>
  <cs:seriesLine>
    <cs:lnRef idx="0"/>
    <cs:fillRef idx="0"/>
    <cs:effectRef idx="0"/>
    <cs:fontRef idx="minor">
      <a:schemeClr val="tx1"/>
    </cs:fontRef>
    <cs:spPr>
      <a:ln w="9525" cap="flat">
        <a:solidFill>
          <a:srgbClr val="D9D9D9"/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ash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/>
  </cs:valueAxis>
  <cs:wall>
    <cs:lnRef idx="0"/>
    <cs:fillRef idx="0"/>
    <cs:effectRef idx="0"/>
    <cs:fontRef idx="minor">
      <a:schemeClr val="tx1"/>
    </cs:fontRef>
  </cs:wall>
</cs:chartStyle>
</file>

<file path=ppt/charts/style2.xml><?xml version="1.0" encoding="utf-8"?>
<cs:chartStyle xmlns:cs="http://schemas.microsoft.com/office/drawing/2012/chartStyle" xmlns:a="http://schemas.openxmlformats.org/drawingml/2006/main" id="20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A50460A-42C4-4EDA-ABFC-7BC17C6A78A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NG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47246C7C-CFB8-44E0-9101-82F9945702D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NG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F05600E-37A6-4B59-B85F-1CC7EB10EC8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D1C854F-A4A6-4D0F-A4CA-109038BB6AD0}" type="datetimeFigureOut">
              <a:rPr lang="en-NG" smtClean="0"/>
              <a:t>29/11/2025</a:t>
            </a:fld>
            <a:endParaRPr lang="en-NG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DFD8415-AB08-43E4-AE59-970CD0196FE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NG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58B9B22-06FD-4E8B-804E-123A1B34553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E9E630F-2135-4A36-930B-3E8914A4AD6D}" type="slidenum">
              <a:rPr lang="en-NG" smtClean="0"/>
              <a:t>‹#›</a:t>
            </a:fld>
            <a:endParaRPr lang="en-NG"/>
          </a:p>
        </p:txBody>
      </p:sp>
    </p:spTree>
    <p:extLst>
      <p:ext uri="{BB962C8B-B14F-4D97-AF65-F5344CB8AC3E}">
        <p14:creationId xmlns:p14="http://schemas.microsoft.com/office/powerpoint/2010/main" val="268192128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 advClick="0" advTm="1000">
        <p:split orient="vert"/>
      </p:transition>
    </mc:Choice>
    <mc:Fallback xmlns="">
      <p:transition spd="slow" advClick="0" advTm="1000">
        <p:split orient="vert"/>
      </p:transition>
    </mc:Fallback>
  </mc:AlternateConten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BBA8517-F3EF-4CF1-98DA-533607D48FA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NG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1CC804B-6F5E-40A1-9230-8FB7F66D76E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NG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DCE9EDF-BD7B-443E-8DD9-44D0B4D31C6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D1C854F-A4A6-4D0F-A4CA-109038BB6AD0}" type="datetimeFigureOut">
              <a:rPr lang="en-NG" smtClean="0"/>
              <a:t>29/11/2025</a:t>
            </a:fld>
            <a:endParaRPr lang="en-NG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0736D60-6811-42B9-BC57-D69B0F7DA92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NG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80094E7-722E-4D43-B1C9-380FC01A16C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E9E630F-2135-4A36-930B-3E8914A4AD6D}" type="slidenum">
              <a:rPr lang="en-NG" smtClean="0"/>
              <a:t>‹#›</a:t>
            </a:fld>
            <a:endParaRPr lang="en-NG"/>
          </a:p>
        </p:txBody>
      </p:sp>
    </p:spTree>
    <p:extLst>
      <p:ext uri="{BB962C8B-B14F-4D97-AF65-F5344CB8AC3E}">
        <p14:creationId xmlns:p14="http://schemas.microsoft.com/office/powerpoint/2010/main" val="205343858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 advClick="0" advTm="1000">
        <p:split orient="vert"/>
      </p:transition>
    </mc:Choice>
    <mc:Fallback xmlns="">
      <p:transition spd="slow" advClick="0" advTm="1000">
        <p:split orient="vert"/>
      </p:transition>
    </mc:Fallback>
  </mc:AlternateConten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A2AF835-4DDB-479D-9FE9-0DBF69CD98F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NG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FDABA70-440B-4B59-95AF-4C06B76E950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2B171C7-3E38-4341-A979-009036370B9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D1C854F-A4A6-4D0F-A4CA-109038BB6AD0}" type="datetimeFigureOut">
              <a:rPr lang="en-NG" smtClean="0"/>
              <a:t>29/11/2025</a:t>
            </a:fld>
            <a:endParaRPr lang="en-NG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85E447F-658C-4F4D-9D2D-C94354278E0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NG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E438DE6-FDBD-4353-845E-4B78F4C401C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E9E630F-2135-4A36-930B-3E8914A4AD6D}" type="slidenum">
              <a:rPr lang="en-NG" smtClean="0"/>
              <a:t>‹#›</a:t>
            </a:fld>
            <a:endParaRPr lang="en-NG"/>
          </a:p>
        </p:txBody>
      </p:sp>
    </p:spTree>
    <p:extLst>
      <p:ext uri="{BB962C8B-B14F-4D97-AF65-F5344CB8AC3E}">
        <p14:creationId xmlns:p14="http://schemas.microsoft.com/office/powerpoint/2010/main" val="301321157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 advClick="0" advTm="1000">
        <p:split orient="vert"/>
      </p:transition>
    </mc:Choice>
    <mc:Fallback xmlns="">
      <p:transition spd="slow" advClick="0" advTm="1000">
        <p:split orient="vert"/>
      </p:transition>
    </mc:Fallback>
  </mc:AlternateConten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A39CACF-8E4D-4AED-928B-3D99582D4E1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NG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4D39E2D-8635-491E-90E5-BB5320FA4058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NG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C585FCB4-3DA3-4B86-BB99-B9473A21F41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NG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B23A466-D91F-4E8D-932B-7F1016E605A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D1C854F-A4A6-4D0F-A4CA-109038BB6AD0}" type="datetimeFigureOut">
              <a:rPr lang="en-NG" smtClean="0"/>
              <a:t>29/11/2025</a:t>
            </a:fld>
            <a:endParaRPr lang="en-NG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BE84179-EB7F-4E25-B039-B25E20EDD6A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NG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0157CF9-C7C4-4705-A3D1-9BBADA1FFEF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E9E630F-2135-4A36-930B-3E8914A4AD6D}" type="slidenum">
              <a:rPr lang="en-NG" smtClean="0"/>
              <a:t>‹#›</a:t>
            </a:fld>
            <a:endParaRPr lang="en-NG"/>
          </a:p>
        </p:txBody>
      </p:sp>
    </p:spTree>
    <p:extLst>
      <p:ext uri="{BB962C8B-B14F-4D97-AF65-F5344CB8AC3E}">
        <p14:creationId xmlns:p14="http://schemas.microsoft.com/office/powerpoint/2010/main" val="207542134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 advClick="0" advTm="1000">
        <p:split orient="vert"/>
      </p:transition>
    </mc:Choice>
    <mc:Fallback xmlns="">
      <p:transition spd="slow" advClick="0" advTm="1000">
        <p:split orient="vert"/>
      </p:transition>
    </mc:Fallback>
  </mc:AlternateConten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B626357-6B86-4EBE-9ACA-81868D23107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NG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9D579C3-7DCB-4063-80C9-DC97C6C9066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69DAC5AE-FE2E-4DF7-8E49-640F9B69E6F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NG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664E3482-7399-48E5-BD9B-6B46326628CB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DB963277-7D0A-43CF-A75C-CF5F1AB3C88D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NG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2A9450DF-DB53-448B-9B44-526F4C08B07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D1C854F-A4A6-4D0F-A4CA-109038BB6AD0}" type="datetimeFigureOut">
              <a:rPr lang="en-NG" smtClean="0"/>
              <a:t>29/11/2025</a:t>
            </a:fld>
            <a:endParaRPr lang="en-NG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2BCF224A-8603-4190-910D-B61DF19660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NG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A2E8B6B2-81BA-4003-B2B7-328B9C9992F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E9E630F-2135-4A36-930B-3E8914A4AD6D}" type="slidenum">
              <a:rPr lang="en-NG" smtClean="0"/>
              <a:t>‹#›</a:t>
            </a:fld>
            <a:endParaRPr lang="en-NG"/>
          </a:p>
        </p:txBody>
      </p:sp>
    </p:spTree>
    <p:extLst>
      <p:ext uri="{BB962C8B-B14F-4D97-AF65-F5344CB8AC3E}">
        <p14:creationId xmlns:p14="http://schemas.microsoft.com/office/powerpoint/2010/main" val="138314928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 advClick="0" advTm="1000">
        <p:split orient="vert"/>
      </p:transition>
    </mc:Choice>
    <mc:Fallback xmlns="">
      <p:transition spd="slow" advClick="0" advTm="1000">
        <p:split orient="vert"/>
      </p:transition>
    </mc:Fallback>
  </mc:AlternateConten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872AAD6-1397-4C38-B26E-0DCBBA64476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NG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A13884FE-409C-4204-B5BA-7249F3A61CE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D1C854F-A4A6-4D0F-A4CA-109038BB6AD0}" type="datetimeFigureOut">
              <a:rPr lang="en-NG" smtClean="0"/>
              <a:t>29/11/2025</a:t>
            </a:fld>
            <a:endParaRPr lang="en-NG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F108C27E-3262-425E-A3E9-ACE86306F62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NG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24D05158-FCC5-42D3-A0C0-CDFF0592BBE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E9E630F-2135-4A36-930B-3E8914A4AD6D}" type="slidenum">
              <a:rPr lang="en-NG" smtClean="0"/>
              <a:t>‹#›</a:t>
            </a:fld>
            <a:endParaRPr lang="en-NG"/>
          </a:p>
        </p:txBody>
      </p:sp>
    </p:spTree>
    <p:extLst>
      <p:ext uri="{BB962C8B-B14F-4D97-AF65-F5344CB8AC3E}">
        <p14:creationId xmlns:p14="http://schemas.microsoft.com/office/powerpoint/2010/main" val="80338063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 advClick="0" advTm="1000">
        <p:split orient="vert"/>
      </p:transition>
    </mc:Choice>
    <mc:Fallback xmlns="">
      <p:transition spd="slow" advClick="0" advTm="1000">
        <p:split orient="vert"/>
      </p:transition>
    </mc:Fallback>
  </mc:AlternateConten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C5B44AC7-936A-4F3C-B3A2-A1B46A24770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D1C854F-A4A6-4D0F-A4CA-109038BB6AD0}" type="datetimeFigureOut">
              <a:rPr lang="en-NG" smtClean="0"/>
              <a:t>29/11/2025</a:t>
            </a:fld>
            <a:endParaRPr lang="en-NG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6FAC9BF0-A64C-4D6F-BDD4-BC6D9E09C4A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NG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085A2DC-3F5E-4299-9FE6-91C7E95E7AE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E9E630F-2135-4A36-930B-3E8914A4AD6D}" type="slidenum">
              <a:rPr lang="en-NG" smtClean="0"/>
              <a:t>‹#›</a:t>
            </a:fld>
            <a:endParaRPr lang="en-NG"/>
          </a:p>
        </p:txBody>
      </p:sp>
    </p:spTree>
    <p:extLst>
      <p:ext uri="{BB962C8B-B14F-4D97-AF65-F5344CB8AC3E}">
        <p14:creationId xmlns:p14="http://schemas.microsoft.com/office/powerpoint/2010/main" val="279492070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 advClick="0" advTm="1000">
        <p:split orient="vert"/>
      </p:transition>
    </mc:Choice>
    <mc:Fallback xmlns="">
      <p:transition spd="slow" advClick="0" advTm="1000">
        <p:split orient="vert"/>
      </p:transition>
    </mc:Fallback>
  </mc:AlternateConten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4C8A7E0-8AE8-49D0-828F-A557715BDB2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NG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3BDA525-C268-4E86-AFEF-C1D83DF0271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NG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556366E2-9096-44F0-A4F4-F323C77B05C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0622949-4775-4F86-80B1-79801C1611E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D1C854F-A4A6-4D0F-A4CA-109038BB6AD0}" type="datetimeFigureOut">
              <a:rPr lang="en-NG" smtClean="0"/>
              <a:t>29/11/2025</a:t>
            </a:fld>
            <a:endParaRPr lang="en-NG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1BF16C3-4418-4B6E-9FE9-FACB6F03962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NG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95FD36F-465B-4222-9165-A85D6DFB4E6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E9E630F-2135-4A36-930B-3E8914A4AD6D}" type="slidenum">
              <a:rPr lang="en-NG" smtClean="0"/>
              <a:t>‹#›</a:t>
            </a:fld>
            <a:endParaRPr lang="en-NG"/>
          </a:p>
        </p:txBody>
      </p:sp>
    </p:spTree>
    <p:extLst>
      <p:ext uri="{BB962C8B-B14F-4D97-AF65-F5344CB8AC3E}">
        <p14:creationId xmlns:p14="http://schemas.microsoft.com/office/powerpoint/2010/main" val="93543957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 advClick="0" advTm="1000">
        <p:split orient="vert"/>
      </p:transition>
    </mc:Choice>
    <mc:Fallback xmlns="">
      <p:transition spd="slow" advClick="0" advTm="1000">
        <p:split orient="vert"/>
      </p:transition>
    </mc:Fallback>
  </mc:AlternateConten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D00ADD2-34F6-46A5-BE4E-DE28F035CF3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NG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8CC5C6D5-3E73-4CF7-8533-6EE587572BD8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NG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594296BA-1394-48A2-A885-533C54F692D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500D471-9F6F-467D-BC24-14C998437F0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D1C854F-A4A6-4D0F-A4CA-109038BB6AD0}" type="datetimeFigureOut">
              <a:rPr lang="en-NG" smtClean="0"/>
              <a:t>29/11/2025</a:t>
            </a:fld>
            <a:endParaRPr lang="en-NG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FF1308E-589A-4168-B51F-22E9170E8AC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NG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D463F17-18D3-436A-A624-51EFD3FCCD3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E9E630F-2135-4A36-930B-3E8914A4AD6D}" type="slidenum">
              <a:rPr lang="en-NG" smtClean="0"/>
              <a:t>‹#›</a:t>
            </a:fld>
            <a:endParaRPr lang="en-NG"/>
          </a:p>
        </p:txBody>
      </p:sp>
    </p:spTree>
    <p:extLst>
      <p:ext uri="{BB962C8B-B14F-4D97-AF65-F5344CB8AC3E}">
        <p14:creationId xmlns:p14="http://schemas.microsoft.com/office/powerpoint/2010/main" val="152445599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 advClick="0" advTm="1000">
        <p:split orient="vert"/>
      </p:transition>
    </mc:Choice>
    <mc:Fallback xmlns="">
      <p:transition spd="slow" advClick="0" advTm="1000">
        <p:split orient="vert"/>
      </p:transition>
    </mc:Fallback>
  </mc:AlternateContent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1ACB336-3A2C-4295-9F39-FA291E69FD3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NG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06300540-5786-43B4-AEFB-7BA0BF75222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NG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6995314-793B-4368-99DB-8F07150D928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D1C854F-A4A6-4D0F-A4CA-109038BB6AD0}" type="datetimeFigureOut">
              <a:rPr lang="en-NG" smtClean="0"/>
              <a:t>29/11/2025</a:t>
            </a:fld>
            <a:endParaRPr lang="en-NG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2439CAD-FAC1-4425-94D6-3265C2925D6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NG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47C5A3E-C9F7-4F28-885B-B6A2F2E2420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E9E630F-2135-4A36-930B-3E8914A4AD6D}" type="slidenum">
              <a:rPr lang="en-NG" smtClean="0"/>
              <a:t>‹#›</a:t>
            </a:fld>
            <a:endParaRPr lang="en-NG"/>
          </a:p>
        </p:txBody>
      </p:sp>
    </p:spTree>
    <p:extLst>
      <p:ext uri="{BB962C8B-B14F-4D97-AF65-F5344CB8AC3E}">
        <p14:creationId xmlns:p14="http://schemas.microsoft.com/office/powerpoint/2010/main" val="88080204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 advClick="0" advTm="1000">
        <p:split orient="vert"/>
      </p:transition>
    </mc:Choice>
    <mc:Fallback xmlns="">
      <p:transition spd="slow" advClick="0" advTm="1000">
        <p:split orient="vert"/>
      </p:transition>
    </mc:Fallback>
  </mc:AlternateContent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62EAA91D-42E1-4B18-BA31-6B879712F6B5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NG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4844BBFB-BA8A-49B3-BDAA-29F32403EBB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NG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4D045A3-7B0C-44FC-B6EA-36B1570D6E5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D1C854F-A4A6-4D0F-A4CA-109038BB6AD0}" type="datetimeFigureOut">
              <a:rPr lang="en-NG" smtClean="0"/>
              <a:t>29/11/2025</a:t>
            </a:fld>
            <a:endParaRPr lang="en-NG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0EC9980-1BFD-4E47-A2D0-49C5D1C8D62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NG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3BF8F50-A88F-462B-BAE3-6183F7E2CC5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E9E630F-2135-4A36-930B-3E8914A4AD6D}" type="slidenum">
              <a:rPr lang="en-NG" smtClean="0"/>
              <a:t>‹#›</a:t>
            </a:fld>
            <a:endParaRPr lang="en-NG"/>
          </a:p>
        </p:txBody>
      </p:sp>
    </p:spTree>
    <p:extLst>
      <p:ext uri="{BB962C8B-B14F-4D97-AF65-F5344CB8AC3E}">
        <p14:creationId xmlns:p14="http://schemas.microsoft.com/office/powerpoint/2010/main" val="56996371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 advClick="0" advTm="1000">
        <p:split orient="vert"/>
      </p:transition>
    </mc:Choice>
    <mc:Fallback xmlns="">
      <p:transition spd="slow" advClick="0" advTm="1000">
        <p:split orient="vert"/>
      </p:transition>
    </mc:Fallback>
  </mc:AlternateContent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5F2BBDA0-A8F1-4974-83F1-A2BF74A8AD2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NG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2841AF4-5CA8-4B3E-B22A-EF0B02DD85C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NG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A654425-21A7-4B7D-989F-3008F87A635B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D1C854F-A4A6-4D0F-A4CA-109038BB6AD0}" type="datetimeFigureOut">
              <a:rPr lang="en-NG" smtClean="0"/>
              <a:t>29/11/2025</a:t>
            </a:fld>
            <a:endParaRPr lang="en-NG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ADFE66E-F8E0-4322-BEEB-F2A6F449EF2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NG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D212CF7-8975-4052-BE84-C2DD3559E476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E9E630F-2135-4A36-930B-3E8914A4AD6D}" type="slidenum">
              <a:rPr lang="en-NG" smtClean="0"/>
              <a:t>‹#›</a:t>
            </a:fld>
            <a:endParaRPr lang="en-NG"/>
          </a:p>
        </p:txBody>
      </p:sp>
    </p:spTree>
    <p:extLst>
      <p:ext uri="{BB962C8B-B14F-4D97-AF65-F5344CB8AC3E}">
        <p14:creationId xmlns:p14="http://schemas.microsoft.com/office/powerpoint/2010/main" val="127852865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mc:AlternateContent xmlns:mc="http://schemas.openxmlformats.org/markup-compatibility/2006" xmlns:p14="http://schemas.microsoft.com/office/powerpoint/2010/main">
    <mc:Choice Requires="p14">
      <p:transition spd="slow" p14:dur="1500" advClick="0" advTm="1000">
        <p:split orient="vert"/>
      </p:transition>
    </mc:Choice>
    <mc:Fallback xmlns="">
      <p:transition spd="slow" advClick="0" advTm="1000">
        <p:split orient="vert"/>
      </p:transition>
    </mc:Fallback>
  </mc:AlternateConten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NG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image" Target="../media/image8.png"/><Relationship Id="rId2" Type="http://schemas.microsoft.com/office/2014/relationships/chartEx" Target="../charts/chartEx1.xml"/><Relationship Id="rId1" Type="http://schemas.openxmlformats.org/officeDocument/2006/relationships/slideLayout" Target="../slideLayouts/slideLayout7.xml"/><Relationship Id="rId9" Type="http://schemas.openxmlformats.org/officeDocument/2006/relationships/chart" Target="../charts/char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sv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: Rounded Corners 3">
            <a:extLst>
              <a:ext uri="{FF2B5EF4-FFF2-40B4-BE49-F238E27FC236}">
                <a16:creationId xmlns:a16="http://schemas.microsoft.com/office/drawing/2014/main" id="{9D2E5F35-24C3-4657-A8DD-3D899E3CA634}"/>
              </a:ext>
            </a:extLst>
          </p:cNvPr>
          <p:cNvSpPr/>
          <p:nvPr/>
        </p:nvSpPr>
        <p:spPr>
          <a:xfrm rot="19844363">
            <a:off x="9184514" y="2116555"/>
            <a:ext cx="2561645" cy="2492999"/>
          </a:xfrm>
          <a:prstGeom prst="roundRect">
            <a:avLst/>
          </a:prstGeom>
          <a:solidFill>
            <a:srgbClr val="D7C097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NG"/>
          </a:p>
        </p:txBody>
      </p:sp>
      <p:sp>
        <p:nvSpPr>
          <p:cNvPr id="9" name="Rectangle: Rounded Corners 8">
            <a:extLst>
              <a:ext uri="{FF2B5EF4-FFF2-40B4-BE49-F238E27FC236}">
                <a16:creationId xmlns:a16="http://schemas.microsoft.com/office/drawing/2014/main" id="{7806AE6C-B08C-4079-B211-F274A3241634}"/>
              </a:ext>
            </a:extLst>
          </p:cNvPr>
          <p:cNvSpPr/>
          <p:nvPr/>
        </p:nvSpPr>
        <p:spPr>
          <a:xfrm rot="19844363">
            <a:off x="8276999" y="-446404"/>
            <a:ext cx="2561645" cy="2492999"/>
          </a:xfrm>
          <a:prstGeom prst="roundRect">
            <a:avLst/>
          </a:prstGeom>
          <a:solidFill>
            <a:srgbClr val="B87C4C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NG"/>
          </a:p>
        </p:txBody>
      </p:sp>
      <p:sp>
        <p:nvSpPr>
          <p:cNvPr id="10" name="Rectangle: Rounded Corners 9">
            <a:extLst>
              <a:ext uri="{FF2B5EF4-FFF2-40B4-BE49-F238E27FC236}">
                <a16:creationId xmlns:a16="http://schemas.microsoft.com/office/drawing/2014/main" id="{76595AF5-2F73-4177-8067-267611C60E8B}"/>
              </a:ext>
            </a:extLst>
          </p:cNvPr>
          <p:cNvSpPr/>
          <p:nvPr/>
        </p:nvSpPr>
        <p:spPr>
          <a:xfrm rot="19844363">
            <a:off x="10263479" y="4558690"/>
            <a:ext cx="2561645" cy="2492999"/>
          </a:xfrm>
          <a:prstGeom prst="roundRect">
            <a:avLst/>
          </a:prstGeom>
          <a:solidFill>
            <a:srgbClr val="D7C097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NG"/>
          </a:p>
        </p:txBody>
      </p:sp>
      <p:sp>
        <p:nvSpPr>
          <p:cNvPr id="11" name="Rectangle: Rounded Corners 10">
            <a:extLst>
              <a:ext uri="{FF2B5EF4-FFF2-40B4-BE49-F238E27FC236}">
                <a16:creationId xmlns:a16="http://schemas.microsoft.com/office/drawing/2014/main" id="{6B7BD6D0-6553-4C17-B283-5829641BCF8C}"/>
              </a:ext>
            </a:extLst>
          </p:cNvPr>
          <p:cNvSpPr/>
          <p:nvPr/>
        </p:nvSpPr>
        <p:spPr>
          <a:xfrm rot="19844363">
            <a:off x="11406683" y="-481043"/>
            <a:ext cx="1351206" cy="1385110"/>
          </a:xfrm>
          <a:prstGeom prst="roundRect">
            <a:avLst/>
          </a:prstGeom>
          <a:noFill/>
          <a:ln w="76200">
            <a:solidFill>
              <a:srgbClr val="D7C097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NG"/>
          </a:p>
        </p:txBody>
      </p:sp>
      <p:sp>
        <p:nvSpPr>
          <p:cNvPr id="12" name="Rectangle: Rounded Corners 11">
            <a:extLst>
              <a:ext uri="{FF2B5EF4-FFF2-40B4-BE49-F238E27FC236}">
                <a16:creationId xmlns:a16="http://schemas.microsoft.com/office/drawing/2014/main" id="{6FAA7FDF-88E3-456C-AB84-941F64F31177}"/>
              </a:ext>
            </a:extLst>
          </p:cNvPr>
          <p:cNvSpPr/>
          <p:nvPr/>
        </p:nvSpPr>
        <p:spPr>
          <a:xfrm rot="19844363">
            <a:off x="11406683" y="453408"/>
            <a:ext cx="1351206" cy="1385110"/>
          </a:xfrm>
          <a:prstGeom prst="roundRect">
            <a:avLst/>
          </a:prstGeom>
          <a:noFill/>
          <a:ln w="76200">
            <a:solidFill>
              <a:srgbClr val="B87C4C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NG"/>
          </a:p>
        </p:txBody>
      </p:sp>
      <p:sp>
        <p:nvSpPr>
          <p:cNvPr id="13" name="Rectangle: Rounded Corners 12">
            <a:extLst>
              <a:ext uri="{FF2B5EF4-FFF2-40B4-BE49-F238E27FC236}">
                <a16:creationId xmlns:a16="http://schemas.microsoft.com/office/drawing/2014/main" id="{E088D8FF-EA07-4047-BAED-57F4C4BDCDF4}"/>
              </a:ext>
            </a:extLst>
          </p:cNvPr>
          <p:cNvSpPr/>
          <p:nvPr/>
        </p:nvSpPr>
        <p:spPr>
          <a:xfrm rot="19844363">
            <a:off x="-254358" y="5174843"/>
            <a:ext cx="1351206" cy="1385110"/>
          </a:xfrm>
          <a:prstGeom prst="roundRect">
            <a:avLst/>
          </a:prstGeom>
          <a:noFill/>
          <a:ln w="76200">
            <a:solidFill>
              <a:srgbClr val="D7C097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NG"/>
          </a:p>
        </p:txBody>
      </p:sp>
      <p:sp>
        <p:nvSpPr>
          <p:cNvPr id="14" name="Rectangle: Rounded Corners 13">
            <a:extLst>
              <a:ext uri="{FF2B5EF4-FFF2-40B4-BE49-F238E27FC236}">
                <a16:creationId xmlns:a16="http://schemas.microsoft.com/office/drawing/2014/main" id="{CA1A6F43-8994-49AD-B8A8-CFA1364A6179}"/>
              </a:ext>
            </a:extLst>
          </p:cNvPr>
          <p:cNvSpPr/>
          <p:nvPr/>
        </p:nvSpPr>
        <p:spPr>
          <a:xfrm rot="19844363">
            <a:off x="-445259" y="6165445"/>
            <a:ext cx="1351206" cy="1385110"/>
          </a:xfrm>
          <a:prstGeom prst="roundRect">
            <a:avLst/>
          </a:prstGeom>
          <a:noFill/>
          <a:ln w="76200">
            <a:solidFill>
              <a:srgbClr val="B87C4C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NG"/>
          </a:p>
        </p:txBody>
      </p:sp>
      <p:sp>
        <p:nvSpPr>
          <p:cNvPr id="15" name="Rectangle: Rounded Corners 14">
            <a:extLst>
              <a:ext uri="{FF2B5EF4-FFF2-40B4-BE49-F238E27FC236}">
                <a16:creationId xmlns:a16="http://schemas.microsoft.com/office/drawing/2014/main" id="{C6C24817-80AC-4CC2-9D65-6F32B1355F4A}"/>
              </a:ext>
            </a:extLst>
          </p:cNvPr>
          <p:cNvSpPr/>
          <p:nvPr/>
        </p:nvSpPr>
        <p:spPr>
          <a:xfrm rot="19844363">
            <a:off x="7824196" y="5867208"/>
            <a:ext cx="2561645" cy="2492999"/>
          </a:xfrm>
          <a:prstGeom prst="roundRect">
            <a:avLst/>
          </a:prstGeom>
          <a:solidFill>
            <a:srgbClr val="B87C4C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NG"/>
          </a:p>
        </p:txBody>
      </p:sp>
      <p:grpSp>
        <p:nvGrpSpPr>
          <p:cNvPr id="22" name="Group 21">
            <a:extLst>
              <a:ext uri="{FF2B5EF4-FFF2-40B4-BE49-F238E27FC236}">
                <a16:creationId xmlns:a16="http://schemas.microsoft.com/office/drawing/2014/main" id="{BFF420C8-E159-4A76-B7CE-3910F18D438A}"/>
              </a:ext>
            </a:extLst>
          </p:cNvPr>
          <p:cNvGrpSpPr/>
          <p:nvPr/>
        </p:nvGrpSpPr>
        <p:grpSpPr>
          <a:xfrm>
            <a:off x="172988" y="2680981"/>
            <a:ext cx="9275503" cy="2248648"/>
            <a:chOff x="172988" y="2680981"/>
            <a:chExt cx="9275503" cy="2248648"/>
          </a:xfrm>
        </p:grpSpPr>
        <p:sp>
          <p:nvSpPr>
            <p:cNvPr id="18" name="TextBox 17">
              <a:extLst>
                <a:ext uri="{FF2B5EF4-FFF2-40B4-BE49-F238E27FC236}">
                  <a16:creationId xmlns:a16="http://schemas.microsoft.com/office/drawing/2014/main" id="{E9C616D6-1115-4ACE-A410-03727EB9DEEE}"/>
                </a:ext>
              </a:extLst>
            </p:cNvPr>
            <p:cNvSpPr txBox="1"/>
            <p:nvPr/>
          </p:nvSpPr>
          <p:spPr>
            <a:xfrm>
              <a:off x="1881371" y="2680981"/>
              <a:ext cx="6403543" cy="923330"/>
            </a:xfrm>
            <a:prstGeom prst="rect">
              <a:avLst/>
            </a:prstGeom>
            <a:noFill/>
          </p:spPr>
          <p:txBody>
            <a:bodyPr wrap="square" rtlCol="0" anchor="ctr">
              <a:spAutoFit/>
            </a:bodyPr>
            <a:lstStyle/>
            <a:p>
              <a:pPr algn="ctr"/>
              <a:r>
                <a:rPr lang="en-US" sz="5400" b="1" dirty="0">
                  <a:solidFill>
                    <a:srgbClr val="B87C4C"/>
                  </a:solidFill>
                  <a:latin typeface="Bahnschrift" panose="020B0502040204020203" pitchFamily="34" charset="0"/>
                  <a:cs typeface="Arial" panose="020B0604020202020204" pitchFamily="34" charset="0"/>
                </a:rPr>
                <a:t>MONTHLY REPORT</a:t>
              </a:r>
              <a:endParaRPr lang="en-NG" sz="5400" b="1" dirty="0">
                <a:solidFill>
                  <a:srgbClr val="B87C4C"/>
                </a:solidFill>
                <a:latin typeface="Bahnschrift" panose="020B0502040204020203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9" name="TextBox 18">
              <a:extLst>
                <a:ext uri="{FF2B5EF4-FFF2-40B4-BE49-F238E27FC236}">
                  <a16:creationId xmlns:a16="http://schemas.microsoft.com/office/drawing/2014/main" id="{1E93CA8B-BF86-4252-986C-AA04692DA8A0}"/>
                </a:ext>
              </a:extLst>
            </p:cNvPr>
            <p:cNvSpPr txBox="1"/>
            <p:nvPr/>
          </p:nvSpPr>
          <p:spPr>
            <a:xfrm>
              <a:off x="172988" y="3446998"/>
              <a:ext cx="9190891" cy="923330"/>
            </a:xfrm>
            <a:prstGeom prst="rect">
              <a:avLst/>
            </a:prstGeom>
            <a:noFill/>
          </p:spPr>
          <p:txBody>
            <a:bodyPr wrap="square" rtlCol="0" anchor="ctr">
              <a:spAutoFit/>
            </a:bodyPr>
            <a:lstStyle/>
            <a:p>
              <a:pPr algn="ctr"/>
              <a:r>
                <a:rPr lang="en-US" sz="5400" dirty="0">
                  <a:solidFill>
                    <a:srgbClr val="D7C097"/>
                  </a:solidFill>
                  <a:latin typeface="Bahnschrift" panose="020B0502040204020203" pitchFamily="34" charset="0"/>
                  <a:cs typeface="Arial" panose="020B0604020202020204" pitchFamily="34" charset="0"/>
                </a:rPr>
                <a:t>LIQUEFIED PETROLEUM GAS</a:t>
              </a:r>
              <a:endParaRPr lang="en-NG" sz="5400" dirty="0">
                <a:solidFill>
                  <a:srgbClr val="D7C097"/>
                </a:solidFill>
                <a:latin typeface="Bahnschrift" panose="020B0502040204020203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20" name="TextBox 19">
              <a:extLst>
                <a:ext uri="{FF2B5EF4-FFF2-40B4-BE49-F238E27FC236}">
                  <a16:creationId xmlns:a16="http://schemas.microsoft.com/office/drawing/2014/main" id="{27375BBA-DFAF-47A2-959B-7C751E465737}"/>
                </a:ext>
              </a:extLst>
            </p:cNvPr>
            <p:cNvSpPr txBox="1"/>
            <p:nvPr/>
          </p:nvSpPr>
          <p:spPr>
            <a:xfrm>
              <a:off x="257600" y="4283298"/>
              <a:ext cx="9190891" cy="646331"/>
            </a:xfrm>
            <a:prstGeom prst="rect">
              <a:avLst/>
            </a:prstGeom>
            <a:noFill/>
          </p:spPr>
          <p:txBody>
            <a:bodyPr wrap="square" rtlCol="0" anchor="ctr">
              <a:spAutoFit/>
            </a:bodyPr>
            <a:lstStyle/>
            <a:p>
              <a:pPr algn="ctr"/>
              <a:r>
                <a:rPr lang="en-US" sz="3600" dirty="0">
                  <a:solidFill>
                    <a:srgbClr val="B87C4C"/>
                  </a:solidFill>
                  <a:latin typeface="Bahnschrift" panose="020B0502040204020203" pitchFamily="34" charset="0"/>
                  <a:cs typeface="Arial" panose="020B0604020202020204" pitchFamily="34" charset="0"/>
                </a:rPr>
                <a:t>(COOKING GAS)PRICE,JULY 2024</a:t>
              </a:r>
              <a:endParaRPr lang="en-NG" sz="3600" dirty="0">
                <a:solidFill>
                  <a:srgbClr val="B87C4C"/>
                </a:solidFill>
                <a:latin typeface="Bahnschrift" panose="020B0502040204020203" pitchFamily="34" charset="0"/>
                <a:cs typeface="Arial" panose="020B0604020202020204" pitchFamily="34" charset="0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343380007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 advClick="0" advTm="1000">
        <p:split orient="vert"/>
      </p:transition>
    </mc:Choice>
    <mc:Fallback xmlns="">
      <p:transition spd="slow" advClick="0" advTm="1000">
        <p:split orient="vert"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ight Triangle 3">
            <a:extLst>
              <a:ext uri="{FF2B5EF4-FFF2-40B4-BE49-F238E27FC236}">
                <a16:creationId xmlns:a16="http://schemas.microsoft.com/office/drawing/2014/main" id="{1A4177E6-5B82-44AF-9CDB-D1980A373276}"/>
              </a:ext>
            </a:extLst>
          </p:cNvPr>
          <p:cNvSpPr/>
          <p:nvPr/>
        </p:nvSpPr>
        <p:spPr>
          <a:xfrm rot="5400000">
            <a:off x="81989" y="-81990"/>
            <a:ext cx="798550" cy="962529"/>
          </a:xfrm>
          <a:prstGeom prst="rtTriangle">
            <a:avLst/>
          </a:prstGeom>
          <a:solidFill>
            <a:srgbClr val="B87C4C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NG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3977245F-E201-4735-B2F8-262F71B3C15B}"/>
              </a:ext>
            </a:extLst>
          </p:cNvPr>
          <p:cNvSpPr txBox="1"/>
          <p:nvPr/>
        </p:nvSpPr>
        <p:spPr>
          <a:xfrm>
            <a:off x="1764632" y="399274"/>
            <a:ext cx="9240252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000" b="1" dirty="0">
                <a:solidFill>
                  <a:srgbClr val="B87C4C"/>
                </a:solidFill>
                <a:latin typeface="Bahnschrift" panose="020B0502040204020203" pitchFamily="34" charset="0"/>
              </a:rPr>
              <a:t>AVERAGE PRICE OF COOKING GAS IN THE MONTH OF JULY 2024 -5KG</a:t>
            </a:r>
            <a:endParaRPr lang="en-NG" sz="2000" b="1" dirty="0">
              <a:solidFill>
                <a:srgbClr val="B87C4C"/>
              </a:solidFill>
              <a:latin typeface="Bahnschrift" panose="020B0502040204020203" pitchFamily="34" charset="0"/>
            </a:endParaRPr>
          </a:p>
        </p:txBody>
      </p:sp>
      <p:grpSp>
        <p:nvGrpSpPr>
          <p:cNvPr id="31" name="Group 30">
            <a:extLst>
              <a:ext uri="{FF2B5EF4-FFF2-40B4-BE49-F238E27FC236}">
                <a16:creationId xmlns:a16="http://schemas.microsoft.com/office/drawing/2014/main" id="{C2E56636-458C-4500-8E4B-D8B4A941A6EB}"/>
              </a:ext>
            </a:extLst>
          </p:cNvPr>
          <p:cNvGrpSpPr/>
          <p:nvPr/>
        </p:nvGrpSpPr>
        <p:grpSpPr>
          <a:xfrm>
            <a:off x="786063" y="1164894"/>
            <a:ext cx="10972800" cy="5349240"/>
            <a:chOff x="786063" y="1164894"/>
            <a:chExt cx="10972800" cy="5349240"/>
          </a:xfrm>
        </p:grpSpPr>
        <p:sp>
          <p:nvSpPr>
            <p:cNvPr id="6" name="Rectangle 5">
              <a:extLst>
                <a:ext uri="{FF2B5EF4-FFF2-40B4-BE49-F238E27FC236}">
                  <a16:creationId xmlns:a16="http://schemas.microsoft.com/office/drawing/2014/main" id="{CEC95DAB-1F7B-46C0-AB25-92CC673EF838}"/>
                </a:ext>
              </a:extLst>
            </p:cNvPr>
            <p:cNvSpPr/>
            <p:nvPr/>
          </p:nvSpPr>
          <p:spPr>
            <a:xfrm>
              <a:off x="786063" y="1622094"/>
              <a:ext cx="10972800" cy="4114800"/>
            </a:xfrm>
            <a:prstGeom prst="rect">
              <a:avLst/>
            </a:prstGeom>
            <a:solidFill>
              <a:srgbClr val="B87C4C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NG"/>
            </a:p>
          </p:txBody>
        </p:sp>
        <p:sp>
          <p:nvSpPr>
            <p:cNvPr id="7" name="Rectangle 6">
              <a:extLst>
                <a:ext uri="{FF2B5EF4-FFF2-40B4-BE49-F238E27FC236}">
                  <a16:creationId xmlns:a16="http://schemas.microsoft.com/office/drawing/2014/main" id="{40DE3F0A-5765-4D0F-B8BB-931AA68334AC}"/>
                </a:ext>
              </a:extLst>
            </p:cNvPr>
            <p:cNvSpPr/>
            <p:nvPr/>
          </p:nvSpPr>
          <p:spPr>
            <a:xfrm>
              <a:off x="4443663" y="1164894"/>
              <a:ext cx="3657600" cy="2514600"/>
            </a:xfrm>
            <a:prstGeom prst="rect">
              <a:avLst/>
            </a:prstGeom>
            <a:blipFill>
              <a:blip r:embed="rId2"/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NG"/>
            </a:p>
          </p:txBody>
        </p:sp>
        <p:sp>
          <p:nvSpPr>
            <p:cNvPr id="8" name="Rectangle 7">
              <a:extLst>
                <a:ext uri="{FF2B5EF4-FFF2-40B4-BE49-F238E27FC236}">
                  <a16:creationId xmlns:a16="http://schemas.microsoft.com/office/drawing/2014/main" id="{FE91BFDB-A646-4989-85B3-3A100E8FC659}"/>
                </a:ext>
              </a:extLst>
            </p:cNvPr>
            <p:cNvSpPr/>
            <p:nvPr/>
          </p:nvSpPr>
          <p:spPr>
            <a:xfrm>
              <a:off x="4443663" y="3679494"/>
              <a:ext cx="3657600" cy="251460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>
              <a:outerShdw blurRad="50800" dist="38100" dir="16200000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NG"/>
            </a:p>
          </p:txBody>
        </p:sp>
        <p:sp>
          <p:nvSpPr>
            <p:cNvPr id="12" name="Rectangle 11">
              <a:extLst>
                <a:ext uri="{FF2B5EF4-FFF2-40B4-BE49-F238E27FC236}">
                  <a16:creationId xmlns:a16="http://schemas.microsoft.com/office/drawing/2014/main" id="{DF3E31EE-EC21-4600-8FF5-BCA429AC0FE0}"/>
                </a:ext>
              </a:extLst>
            </p:cNvPr>
            <p:cNvSpPr/>
            <p:nvPr/>
          </p:nvSpPr>
          <p:spPr>
            <a:xfrm>
              <a:off x="4443663" y="1164894"/>
              <a:ext cx="3657600" cy="2514600"/>
            </a:xfrm>
            <a:prstGeom prst="rect">
              <a:avLst/>
            </a:prstGeom>
            <a:solidFill>
              <a:srgbClr val="B87C4C">
                <a:alpha val="74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NG"/>
            </a:p>
          </p:txBody>
        </p:sp>
        <p:sp>
          <p:nvSpPr>
            <p:cNvPr id="14" name="Rectangle: Rounded Corners 13">
              <a:extLst>
                <a:ext uri="{FF2B5EF4-FFF2-40B4-BE49-F238E27FC236}">
                  <a16:creationId xmlns:a16="http://schemas.microsoft.com/office/drawing/2014/main" id="{21933FA7-B877-4E54-B7EF-06765CF3060E}"/>
                </a:ext>
              </a:extLst>
            </p:cNvPr>
            <p:cNvSpPr/>
            <p:nvPr/>
          </p:nvSpPr>
          <p:spPr>
            <a:xfrm>
              <a:off x="4920996" y="5874054"/>
              <a:ext cx="2350008" cy="640080"/>
            </a:xfrm>
            <a:prstGeom prst="roundRect">
              <a:avLst>
                <a:gd name="adj" fmla="val 50000"/>
              </a:avLst>
            </a:prstGeom>
            <a:solidFill>
              <a:srgbClr val="B87C4C"/>
            </a:solidFill>
            <a:ln>
              <a:noFill/>
            </a:ln>
            <a:effectLst>
              <a:outerShdw blurRad="63500" sx="102000" sy="102000" algn="ctr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NG" dirty="0"/>
            </a:p>
          </p:txBody>
        </p:sp>
        <p:cxnSp>
          <p:nvCxnSpPr>
            <p:cNvPr id="16" name="Straight Connector 15">
              <a:extLst>
                <a:ext uri="{FF2B5EF4-FFF2-40B4-BE49-F238E27FC236}">
                  <a16:creationId xmlns:a16="http://schemas.microsoft.com/office/drawing/2014/main" id="{F33EC6B1-A500-4072-946F-487E40065A2A}"/>
                </a:ext>
              </a:extLst>
            </p:cNvPr>
            <p:cNvCxnSpPr>
              <a:cxnSpLocks/>
            </p:cNvCxnSpPr>
            <p:nvPr/>
          </p:nvCxnSpPr>
          <p:spPr>
            <a:xfrm>
              <a:off x="5217874" y="6194094"/>
              <a:ext cx="1756252" cy="0"/>
            </a:xfrm>
            <a:prstGeom prst="line">
              <a:avLst/>
            </a:prstGeom>
            <a:ln w="28575">
              <a:solidFill>
                <a:schemeClr val="bg1"/>
              </a:solidFill>
              <a:prstDash val="dash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9" name="TextBox 18">
              <a:extLst>
                <a:ext uri="{FF2B5EF4-FFF2-40B4-BE49-F238E27FC236}">
                  <a16:creationId xmlns:a16="http://schemas.microsoft.com/office/drawing/2014/main" id="{D9CF1913-74B1-4577-9CE1-F541391E0EBD}"/>
                </a:ext>
              </a:extLst>
            </p:cNvPr>
            <p:cNvSpPr txBox="1"/>
            <p:nvPr/>
          </p:nvSpPr>
          <p:spPr>
            <a:xfrm>
              <a:off x="4666844" y="4323473"/>
              <a:ext cx="2858313" cy="76944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4400" dirty="0">
                  <a:solidFill>
                    <a:srgbClr val="B87C4C"/>
                  </a:solidFill>
                  <a:latin typeface="Bahnschrift" panose="020B0502040204020203" pitchFamily="34" charset="0"/>
                </a:rPr>
                <a:t>JULY 2024</a:t>
              </a:r>
              <a:endParaRPr lang="en-NG" sz="4400" dirty="0">
                <a:solidFill>
                  <a:srgbClr val="B87C4C"/>
                </a:solidFill>
                <a:latin typeface="Bahnschrift" panose="020B0502040204020203" pitchFamily="34" charset="0"/>
              </a:endParaRPr>
            </a:p>
          </p:txBody>
        </p:sp>
      </p:grpSp>
      <p:sp>
        <p:nvSpPr>
          <p:cNvPr id="29" name="TextBox 28">
            <a:extLst>
              <a:ext uri="{FF2B5EF4-FFF2-40B4-BE49-F238E27FC236}">
                <a16:creationId xmlns:a16="http://schemas.microsoft.com/office/drawing/2014/main" id="{82F27A15-C147-484D-BF7A-AC832138B73D}"/>
              </a:ext>
            </a:extLst>
          </p:cNvPr>
          <p:cNvSpPr txBox="1"/>
          <p:nvPr/>
        </p:nvSpPr>
        <p:spPr>
          <a:xfrm>
            <a:off x="1764632" y="2770575"/>
            <a:ext cx="1371238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dirty="0">
                <a:solidFill>
                  <a:schemeClr val="bg1"/>
                </a:solidFill>
                <a:latin typeface="Bahnschrift" panose="020B0502040204020203" pitchFamily="34" charset="0"/>
              </a:rPr>
              <a:t>JULY 2023</a:t>
            </a:r>
            <a:endParaRPr lang="en-NG" sz="2000" dirty="0">
              <a:solidFill>
                <a:schemeClr val="bg1"/>
              </a:solidFill>
              <a:latin typeface="Bahnschrift" panose="020B0502040204020203" pitchFamily="34" charset="0"/>
            </a:endParaRPr>
          </a:p>
        </p:txBody>
      </p:sp>
      <p:sp>
        <p:nvSpPr>
          <p:cNvPr id="30" name="Rectangle: Rounded Corners 29">
            <a:extLst>
              <a:ext uri="{FF2B5EF4-FFF2-40B4-BE49-F238E27FC236}">
                <a16:creationId xmlns:a16="http://schemas.microsoft.com/office/drawing/2014/main" id="{62767F4C-B1A8-4C2C-952D-31B66926CFCC}"/>
              </a:ext>
            </a:extLst>
          </p:cNvPr>
          <p:cNvSpPr/>
          <p:nvPr/>
        </p:nvSpPr>
        <p:spPr>
          <a:xfrm>
            <a:off x="1577797" y="3195903"/>
            <a:ext cx="2060334" cy="483591"/>
          </a:xfrm>
          <a:prstGeom prst="roundRect">
            <a:avLst>
              <a:gd name="adj" fmla="val 50000"/>
            </a:avLst>
          </a:prstGeom>
          <a:solidFill>
            <a:srgbClr val="B87C4C"/>
          </a:solidFill>
          <a:ln>
            <a:noFill/>
          </a:ln>
          <a:effectLst>
            <a:outerShdw blurRad="63500" sx="102000" sy="102000" algn="ctr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NG" dirty="0"/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953605CA-A2A0-494B-9427-8F25485E53B5}"/>
              </a:ext>
            </a:extLst>
          </p:cNvPr>
          <p:cNvSpPr txBox="1"/>
          <p:nvPr/>
        </p:nvSpPr>
        <p:spPr>
          <a:xfrm>
            <a:off x="4742425" y="2037473"/>
            <a:ext cx="2707151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400" b="1" i="0" u="none" strike="noStrike" dirty="0">
                <a:solidFill>
                  <a:schemeClr val="bg1"/>
                </a:solidFill>
                <a:effectLst/>
                <a:latin typeface="Bahnschrift" panose="020B0502040204020203" pitchFamily="34" charset="0"/>
              </a:rPr>
              <a:t>N</a:t>
            </a:r>
            <a:r>
              <a:rPr lang="en-NG" sz="4400" b="1" i="0" u="none" strike="noStrike" dirty="0">
                <a:solidFill>
                  <a:schemeClr val="bg1"/>
                </a:solidFill>
                <a:effectLst/>
                <a:latin typeface="Bahnschrift" panose="020B0502040204020203" pitchFamily="34" charset="0"/>
              </a:rPr>
              <a:t>5</a:t>
            </a:r>
            <a:r>
              <a:rPr lang="en-US" sz="4400" b="1" i="0" u="none" strike="noStrike" dirty="0">
                <a:solidFill>
                  <a:schemeClr val="bg1"/>
                </a:solidFill>
                <a:effectLst/>
                <a:latin typeface="Bahnschrift" panose="020B0502040204020203" pitchFamily="34" charset="0"/>
              </a:rPr>
              <a:t>,</a:t>
            </a:r>
            <a:r>
              <a:rPr lang="en-NG" sz="4400" b="1" i="0" u="none" strike="noStrike" dirty="0">
                <a:solidFill>
                  <a:schemeClr val="bg1"/>
                </a:solidFill>
                <a:effectLst/>
                <a:latin typeface="Bahnschrift" panose="020B0502040204020203" pitchFamily="34" charset="0"/>
              </a:rPr>
              <a:t>974.55</a:t>
            </a:r>
            <a:r>
              <a:rPr lang="en-NG" sz="4400" dirty="0">
                <a:solidFill>
                  <a:schemeClr val="bg1"/>
                </a:solidFill>
                <a:latin typeface="Bahnschrift" panose="020B0502040204020203" pitchFamily="34" charset="0"/>
              </a:rPr>
              <a:t> 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79CA6C3A-587D-4779-9E1B-9BAD0933FEA2}"/>
              </a:ext>
            </a:extLst>
          </p:cNvPr>
          <p:cNvSpPr txBox="1"/>
          <p:nvPr/>
        </p:nvSpPr>
        <p:spPr>
          <a:xfrm>
            <a:off x="1471110" y="2099025"/>
            <a:ext cx="2273708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600" b="1" i="0" u="none" strike="noStrike" dirty="0">
                <a:solidFill>
                  <a:schemeClr val="bg1"/>
                </a:solidFill>
                <a:effectLst/>
                <a:latin typeface="Bahnschrift" panose="020B0502040204020203" pitchFamily="34" charset="0"/>
              </a:rPr>
              <a:t>N</a:t>
            </a:r>
            <a:r>
              <a:rPr lang="en-US" sz="3600" b="1" dirty="0">
                <a:solidFill>
                  <a:schemeClr val="bg1"/>
                </a:solidFill>
                <a:latin typeface="Bahnschrift" panose="020B0502040204020203" pitchFamily="34" charset="0"/>
              </a:rPr>
              <a:t>4</a:t>
            </a:r>
            <a:r>
              <a:rPr lang="en-US" sz="3600" b="1" i="0" u="none" strike="noStrike" dirty="0">
                <a:solidFill>
                  <a:schemeClr val="bg1"/>
                </a:solidFill>
                <a:effectLst/>
                <a:latin typeface="Bahnschrift" panose="020B0502040204020203" pitchFamily="34" charset="0"/>
              </a:rPr>
              <a:t>,</a:t>
            </a:r>
            <a:r>
              <a:rPr lang="en-US" sz="3600" b="1" dirty="0">
                <a:solidFill>
                  <a:schemeClr val="bg1"/>
                </a:solidFill>
                <a:latin typeface="Bahnschrift" panose="020B0502040204020203" pitchFamily="34" charset="0"/>
              </a:rPr>
              <a:t>072</a:t>
            </a:r>
            <a:r>
              <a:rPr lang="en-NG" sz="3600" b="1" i="0" u="none" strike="noStrike" dirty="0">
                <a:solidFill>
                  <a:schemeClr val="bg1"/>
                </a:solidFill>
                <a:effectLst/>
                <a:latin typeface="Bahnschrift" panose="020B0502040204020203" pitchFamily="34" charset="0"/>
              </a:rPr>
              <a:t>.</a:t>
            </a:r>
            <a:r>
              <a:rPr lang="en-US" sz="3600" b="1" i="0" u="none" strike="noStrike" dirty="0">
                <a:solidFill>
                  <a:schemeClr val="bg1"/>
                </a:solidFill>
                <a:effectLst/>
                <a:latin typeface="Bahnschrift" panose="020B0502040204020203" pitchFamily="34" charset="0"/>
              </a:rPr>
              <a:t>87</a:t>
            </a:r>
            <a:r>
              <a:rPr lang="en-NG" sz="3600" dirty="0">
                <a:solidFill>
                  <a:schemeClr val="bg1"/>
                </a:solidFill>
                <a:latin typeface="Bahnschrift" panose="020B0502040204020203" pitchFamily="34" charset="0"/>
              </a:rPr>
              <a:t> </a:t>
            </a: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B00559F0-5AB0-41E0-A851-B7CE0DF0235C}"/>
              </a:ext>
            </a:extLst>
          </p:cNvPr>
          <p:cNvSpPr txBox="1"/>
          <p:nvPr/>
        </p:nvSpPr>
        <p:spPr>
          <a:xfrm>
            <a:off x="9174722" y="2770575"/>
            <a:ext cx="1510681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dirty="0">
                <a:solidFill>
                  <a:schemeClr val="bg1"/>
                </a:solidFill>
                <a:latin typeface="Bahnschrift" panose="020B0502040204020203" pitchFamily="34" charset="0"/>
              </a:rPr>
              <a:t>JUNE 2024</a:t>
            </a:r>
            <a:endParaRPr lang="en-NG" sz="2000" dirty="0">
              <a:solidFill>
                <a:schemeClr val="bg1"/>
              </a:solidFill>
              <a:latin typeface="Bahnschrift" panose="020B0502040204020203" pitchFamily="34" charset="0"/>
            </a:endParaRPr>
          </a:p>
        </p:txBody>
      </p:sp>
      <p:sp>
        <p:nvSpPr>
          <p:cNvPr id="33" name="Rectangle: Rounded Corners 32">
            <a:extLst>
              <a:ext uri="{FF2B5EF4-FFF2-40B4-BE49-F238E27FC236}">
                <a16:creationId xmlns:a16="http://schemas.microsoft.com/office/drawing/2014/main" id="{654BF24B-F734-4B81-8002-77147250BD9A}"/>
              </a:ext>
            </a:extLst>
          </p:cNvPr>
          <p:cNvSpPr/>
          <p:nvPr/>
        </p:nvSpPr>
        <p:spPr>
          <a:xfrm>
            <a:off x="8828103" y="3195903"/>
            <a:ext cx="2173922" cy="483591"/>
          </a:xfrm>
          <a:prstGeom prst="roundRect">
            <a:avLst>
              <a:gd name="adj" fmla="val 50000"/>
            </a:avLst>
          </a:prstGeom>
          <a:solidFill>
            <a:srgbClr val="B87C4C"/>
          </a:solidFill>
          <a:ln>
            <a:noFill/>
          </a:ln>
          <a:effectLst>
            <a:outerShdw blurRad="63500" sx="102000" sy="102000" algn="ctr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NG" dirty="0"/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03BFDFDE-3F42-4330-B7E5-A4190A1F03F0}"/>
              </a:ext>
            </a:extLst>
          </p:cNvPr>
          <p:cNvSpPr txBox="1"/>
          <p:nvPr/>
        </p:nvSpPr>
        <p:spPr>
          <a:xfrm>
            <a:off x="8800108" y="2099025"/>
            <a:ext cx="2273708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600" b="1" i="0" u="none" strike="noStrike" dirty="0">
                <a:solidFill>
                  <a:schemeClr val="bg1"/>
                </a:solidFill>
                <a:effectLst/>
                <a:latin typeface="Bahnschrift" panose="020B0502040204020203" pitchFamily="34" charset="0"/>
              </a:rPr>
              <a:t>N</a:t>
            </a:r>
            <a:r>
              <a:rPr lang="en-US" sz="3600" b="1" dirty="0">
                <a:solidFill>
                  <a:schemeClr val="bg1"/>
                </a:solidFill>
                <a:latin typeface="Bahnschrift" panose="020B0502040204020203" pitchFamily="34" charset="0"/>
              </a:rPr>
              <a:t>6</a:t>
            </a:r>
            <a:r>
              <a:rPr lang="en-US" sz="3600" b="1" i="0" u="none" strike="noStrike" dirty="0">
                <a:solidFill>
                  <a:schemeClr val="bg1"/>
                </a:solidFill>
                <a:effectLst/>
                <a:latin typeface="Bahnschrift" panose="020B0502040204020203" pitchFamily="34" charset="0"/>
              </a:rPr>
              <a:t>,</a:t>
            </a:r>
            <a:r>
              <a:rPr lang="en-NG" sz="3600" b="1" i="0" u="none" strike="noStrike" dirty="0">
                <a:solidFill>
                  <a:schemeClr val="bg1"/>
                </a:solidFill>
                <a:effectLst/>
                <a:latin typeface="Bahnschrift" panose="020B0502040204020203" pitchFamily="34" charset="0"/>
              </a:rPr>
              <a:t>9</a:t>
            </a:r>
            <a:r>
              <a:rPr lang="en-US" sz="3600" b="1" i="0" u="none" strike="noStrike" dirty="0">
                <a:solidFill>
                  <a:schemeClr val="bg1"/>
                </a:solidFill>
                <a:effectLst/>
                <a:latin typeface="Bahnschrift" panose="020B0502040204020203" pitchFamily="34" charset="0"/>
              </a:rPr>
              <a:t>66</a:t>
            </a:r>
            <a:r>
              <a:rPr lang="en-NG" sz="3600" b="1" i="0" u="none" strike="noStrike" dirty="0">
                <a:solidFill>
                  <a:schemeClr val="bg1"/>
                </a:solidFill>
                <a:effectLst/>
                <a:latin typeface="Bahnschrift" panose="020B0502040204020203" pitchFamily="34" charset="0"/>
              </a:rPr>
              <a:t>.</a:t>
            </a:r>
            <a:r>
              <a:rPr lang="en-US" sz="3600" b="1" i="0" u="none" strike="noStrike" dirty="0">
                <a:solidFill>
                  <a:schemeClr val="bg1"/>
                </a:solidFill>
                <a:effectLst/>
                <a:latin typeface="Bahnschrift" panose="020B0502040204020203" pitchFamily="34" charset="0"/>
              </a:rPr>
              <a:t>03</a:t>
            </a:r>
            <a:r>
              <a:rPr lang="en-NG" sz="3600" dirty="0">
                <a:solidFill>
                  <a:schemeClr val="bg1"/>
                </a:solidFill>
                <a:latin typeface="Bahnschrift" panose="020B0502040204020203" pitchFamily="34" charset="0"/>
              </a:rPr>
              <a:t> </a:t>
            </a:r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3F1EA3AA-735F-40F6-88C3-DBA22577C754}"/>
              </a:ext>
            </a:extLst>
          </p:cNvPr>
          <p:cNvSpPr txBox="1"/>
          <p:nvPr/>
        </p:nvSpPr>
        <p:spPr>
          <a:xfrm>
            <a:off x="1661684" y="3244334"/>
            <a:ext cx="149221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>
                <a:solidFill>
                  <a:srgbClr val="D7C097"/>
                </a:solidFill>
                <a:latin typeface="Bahnschrift" panose="020B0502040204020203" pitchFamily="34" charset="0"/>
              </a:rPr>
              <a:t>YOY = </a:t>
            </a:r>
            <a:r>
              <a:rPr lang="en-NG" i="0" u="none" strike="noStrike" dirty="0">
                <a:solidFill>
                  <a:srgbClr val="DC0E0E"/>
                </a:solidFill>
                <a:effectLst/>
                <a:latin typeface="Bahnschrift" panose="020B0502040204020203" pitchFamily="34" charset="0"/>
              </a:rPr>
              <a:t>46.69</a:t>
            </a:r>
            <a:r>
              <a:rPr lang="en-US" i="0" u="none" strike="noStrike" dirty="0">
                <a:solidFill>
                  <a:srgbClr val="DC0E0E"/>
                </a:solidFill>
                <a:effectLst/>
                <a:latin typeface="Bahnschrift" panose="020B0502040204020203" pitchFamily="34" charset="0"/>
              </a:rPr>
              <a:t>%</a:t>
            </a:r>
            <a:r>
              <a:rPr lang="en-NG" dirty="0">
                <a:solidFill>
                  <a:srgbClr val="DC0E0E"/>
                </a:solidFill>
                <a:latin typeface="Bahnschrift" panose="020B0502040204020203" pitchFamily="34" charset="0"/>
              </a:rPr>
              <a:t> </a:t>
            </a:r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94F8886E-A9A4-4D87-AC59-8651E8407A4E}"/>
              </a:ext>
            </a:extLst>
          </p:cNvPr>
          <p:cNvSpPr txBox="1"/>
          <p:nvPr/>
        </p:nvSpPr>
        <p:spPr>
          <a:xfrm>
            <a:off x="8933165" y="3244334"/>
            <a:ext cx="177860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>
                <a:solidFill>
                  <a:srgbClr val="D7C097"/>
                </a:solidFill>
                <a:latin typeface="Bahnschrift" panose="020B0502040204020203" pitchFamily="34" charset="0"/>
              </a:rPr>
              <a:t>MOM = </a:t>
            </a:r>
            <a:r>
              <a:rPr lang="en-NG" sz="1800" i="0" u="none" strike="noStrike" dirty="0">
                <a:solidFill>
                  <a:srgbClr val="00B050"/>
                </a:solidFill>
                <a:effectLst/>
                <a:latin typeface="Bahnschrift" panose="020B0502040204020203" pitchFamily="34" charset="0"/>
              </a:rPr>
              <a:t>-14.23</a:t>
            </a:r>
            <a:r>
              <a:rPr lang="en-NG" dirty="0">
                <a:solidFill>
                  <a:srgbClr val="00B050"/>
                </a:solidFill>
                <a:latin typeface="Bahnschrift" panose="020B0502040204020203" pitchFamily="34" charset="0"/>
              </a:rPr>
              <a:t> </a:t>
            </a:r>
            <a:r>
              <a:rPr lang="en-US" dirty="0">
                <a:solidFill>
                  <a:srgbClr val="00B050"/>
                </a:solidFill>
                <a:latin typeface="Bahnschrift" panose="020B0502040204020203" pitchFamily="34" charset="0"/>
              </a:rPr>
              <a:t>%</a:t>
            </a:r>
            <a:endParaRPr lang="en-NG" dirty="0">
              <a:solidFill>
                <a:srgbClr val="00B050"/>
              </a:solidFill>
              <a:latin typeface="Bahnschrift" panose="020B0502040204020203" pitchFamily="34" charset="0"/>
            </a:endParaRPr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40D5D0ED-21F9-4F60-9BEF-EFB7E826F2FB}"/>
              </a:ext>
            </a:extLst>
          </p:cNvPr>
          <p:cNvSpPr txBox="1"/>
          <p:nvPr/>
        </p:nvSpPr>
        <p:spPr>
          <a:xfrm>
            <a:off x="877369" y="3917584"/>
            <a:ext cx="3454704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dirty="0">
                <a:solidFill>
                  <a:schemeClr val="bg1"/>
                </a:solidFill>
                <a:latin typeface="Bahnschrift" panose="020B0502040204020203" pitchFamily="34" charset="0"/>
              </a:rPr>
              <a:t>There was an increase in the average price of cooking gas compared to the same period last year</a:t>
            </a:r>
            <a:endParaRPr lang="en-NG" sz="2000" dirty="0">
              <a:solidFill>
                <a:schemeClr val="bg1"/>
              </a:solidFill>
              <a:latin typeface="Bahnschrift" panose="020B0502040204020203" pitchFamily="34" charset="0"/>
            </a:endParaRPr>
          </a:p>
        </p:txBody>
      </p:sp>
      <p:sp>
        <p:nvSpPr>
          <p:cNvPr id="41" name="TextBox 40">
            <a:extLst>
              <a:ext uri="{FF2B5EF4-FFF2-40B4-BE49-F238E27FC236}">
                <a16:creationId xmlns:a16="http://schemas.microsoft.com/office/drawing/2014/main" id="{4C4FE9C3-5EED-4C3C-B404-295D5D50C54F}"/>
              </a:ext>
            </a:extLst>
          </p:cNvPr>
          <p:cNvSpPr txBox="1"/>
          <p:nvPr/>
        </p:nvSpPr>
        <p:spPr>
          <a:xfrm>
            <a:off x="8275006" y="4112645"/>
            <a:ext cx="3310111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dirty="0">
                <a:solidFill>
                  <a:schemeClr val="bg1"/>
                </a:solidFill>
                <a:latin typeface="Bahnschrift" panose="020B0502040204020203" pitchFamily="34" charset="0"/>
              </a:rPr>
              <a:t>In July, people paid less for cooking gas across the country than in </a:t>
            </a:r>
            <a:r>
              <a:rPr lang="en-US" sz="2000" dirty="0" err="1">
                <a:solidFill>
                  <a:schemeClr val="bg1"/>
                </a:solidFill>
                <a:latin typeface="Bahnschrift" panose="020B0502040204020203" pitchFamily="34" charset="0"/>
              </a:rPr>
              <a:t>june</a:t>
            </a:r>
            <a:endParaRPr lang="en-NG" sz="2000" dirty="0">
              <a:solidFill>
                <a:schemeClr val="bg1"/>
              </a:solidFill>
              <a:latin typeface="Bahnschrift" panose="020B0502040204020203" pitchFamily="34" charset="0"/>
            </a:endParaRPr>
          </a:p>
        </p:txBody>
      </p:sp>
      <p:sp>
        <p:nvSpPr>
          <p:cNvPr id="42" name="Isosceles Triangle 41">
            <a:extLst>
              <a:ext uri="{FF2B5EF4-FFF2-40B4-BE49-F238E27FC236}">
                <a16:creationId xmlns:a16="http://schemas.microsoft.com/office/drawing/2014/main" id="{BE156A58-3D97-48D9-9D40-355B903B0A44}"/>
              </a:ext>
            </a:extLst>
          </p:cNvPr>
          <p:cNvSpPr/>
          <p:nvPr/>
        </p:nvSpPr>
        <p:spPr>
          <a:xfrm>
            <a:off x="10634407" y="3304549"/>
            <a:ext cx="228600" cy="228600"/>
          </a:xfrm>
          <a:prstGeom prst="triangle">
            <a:avLst/>
          </a:prstGeom>
          <a:solidFill>
            <a:srgbClr val="00B05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NG"/>
          </a:p>
        </p:txBody>
      </p:sp>
      <p:sp>
        <p:nvSpPr>
          <p:cNvPr id="43" name="Isosceles Triangle 42">
            <a:extLst>
              <a:ext uri="{FF2B5EF4-FFF2-40B4-BE49-F238E27FC236}">
                <a16:creationId xmlns:a16="http://schemas.microsoft.com/office/drawing/2014/main" id="{FC8D4ECC-52BB-432E-BB2F-259C6DF7203B}"/>
              </a:ext>
            </a:extLst>
          </p:cNvPr>
          <p:cNvSpPr/>
          <p:nvPr/>
        </p:nvSpPr>
        <p:spPr>
          <a:xfrm rot="10800000" flipH="1">
            <a:off x="3141604" y="3314700"/>
            <a:ext cx="228600" cy="228600"/>
          </a:xfrm>
          <a:prstGeom prst="triangle">
            <a:avLst/>
          </a:prstGeom>
          <a:solidFill>
            <a:srgbClr val="DC0E0E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NG">
              <a:solidFill>
                <a:srgbClr val="DC0E0E"/>
              </a:solidFill>
            </a:endParaRP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6D657238-BF14-462E-98A1-E88694EA4389}"/>
              </a:ext>
            </a:extLst>
          </p:cNvPr>
          <p:cNvSpPr txBox="1"/>
          <p:nvPr/>
        </p:nvSpPr>
        <p:spPr>
          <a:xfrm>
            <a:off x="-1" y="6580801"/>
            <a:ext cx="3398009" cy="3231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500" b="1" dirty="0">
                <a:solidFill>
                  <a:srgbClr val="B87C4C"/>
                </a:solidFill>
              </a:rPr>
              <a:t>Source : National Bureau of Statistics</a:t>
            </a:r>
            <a:endParaRPr lang="en-NG" sz="1500" b="1" dirty="0">
              <a:solidFill>
                <a:srgbClr val="B87C4C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67927857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 advClick="0" advTm="1000">
        <p:split orient="vert"/>
      </p:transition>
    </mc:Choice>
    <mc:Fallback xmlns="">
      <p:transition spd="slow" advClick="0" advTm="1000">
        <p:split orient="vert"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ight Triangle 3">
            <a:extLst>
              <a:ext uri="{FF2B5EF4-FFF2-40B4-BE49-F238E27FC236}">
                <a16:creationId xmlns:a16="http://schemas.microsoft.com/office/drawing/2014/main" id="{1A4177E6-5B82-44AF-9CDB-D1980A373276}"/>
              </a:ext>
            </a:extLst>
          </p:cNvPr>
          <p:cNvSpPr/>
          <p:nvPr/>
        </p:nvSpPr>
        <p:spPr>
          <a:xfrm rot="5400000">
            <a:off x="81989" y="-81990"/>
            <a:ext cx="798550" cy="962529"/>
          </a:xfrm>
          <a:prstGeom prst="rtTriangle">
            <a:avLst/>
          </a:prstGeom>
          <a:solidFill>
            <a:srgbClr val="B87C4C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NG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3977245F-E201-4735-B2F8-262F71B3C15B}"/>
              </a:ext>
            </a:extLst>
          </p:cNvPr>
          <p:cNvSpPr txBox="1"/>
          <p:nvPr/>
        </p:nvSpPr>
        <p:spPr>
          <a:xfrm>
            <a:off x="1905533" y="336885"/>
            <a:ext cx="8380934" cy="461665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pPr algn="ctr"/>
            <a:r>
              <a:rPr lang="en-US" sz="2400" b="1" dirty="0">
                <a:solidFill>
                  <a:srgbClr val="B87C4C"/>
                </a:solidFill>
                <a:latin typeface="Bahnschrift" panose="020B0502040204020203" pitchFamily="34" charset="0"/>
              </a:rPr>
              <a:t>States with the highest average price of cooking gas -5KG</a:t>
            </a:r>
            <a:endParaRPr lang="en-NG" sz="2400" b="1" dirty="0">
              <a:solidFill>
                <a:srgbClr val="B87C4C"/>
              </a:solidFill>
              <a:latin typeface="Bahnschrift" panose="020B0502040204020203" pitchFamily="34" charset="0"/>
            </a:endParaRPr>
          </a:p>
        </p:txBody>
      </p:sp>
      <p:grpSp>
        <p:nvGrpSpPr>
          <p:cNvPr id="21" name="Group 20">
            <a:extLst>
              <a:ext uri="{FF2B5EF4-FFF2-40B4-BE49-F238E27FC236}">
                <a16:creationId xmlns:a16="http://schemas.microsoft.com/office/drawing/2014/main" id="{C1785309-444F-4BF8-9435-19E3C3AA1D29}"/>
              </a:ext>
            </a:extLst>
          </p:cNvPr>
          <p:cNvGrpSpPr/>
          <p:nvPr/>
        </p:nvGrpSpPr>
        <p:grpSpPr>
          <a:xfrm>
            <a:off x="4065494" y="1066800"/>
            <a:ext cx="3657600" cy="2743200"/>
            <a:chOff x="4065494" y="1066800"/>
            <a:chExt cx="3657600" cy="2743200"/>
          </a:xfrm>
        </p:grpSpPr>
        <p:sp>
          <p:nvSpPr>
            <p:cNvPr id="27" name="Rectangle 26">
              <a:extLst>
                <a:ext uri="{FF2B5EF4-FFF2-40B4-BE49-F238E27FC236}">
                  <a16:creationId xmlns:a16="http://schemas.microsoft.com/office/drawing/2014/main" id="{109E0AA5-66AF-4D55-891B-F7642EE2C2E5}"/>
                </a:ext>
              </a:extLst>
            </p:cNvPr>
            <p:cNvSpPr/>
            <p:nvPr/>
          </p:nvSpPr>
          <p:spPr>
            <a:xfrm>
              <a:off x="4065494" y="1066800"/>
              <a:ext cx="3657600" cy="2743200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NG" dirty="0"/>
            </a:p>
          </p:txBody>
        </p:sp>
        <p:grpSp>
          <p:nvGrpSpPr>
            <p:cNvPr id="10" name="Group 9">
              <a:extLst>
                <a:ext uri="{FF2B5EF4-FFF2-40B4-BE49-F238E27FC236}">
                  <a16:creationId xmlns:a16="http://schemas.microsoft.com/office/drawing/2014/main" id="{DEEB5348-57A9-4D12-8E18-6B66653809E0}"/>
                </a:ext>
              </a:extLst>
            </p:cNvPr>
            <p:cNvGrpSpPr/>
            <p:nvPr/>
          </p:nvGrpSpPr>
          <p:grpSpPr>
            <a:xfrm>
              <a:off x="4719290" y="1232095"/>
              <a:ext cx="2350008" cy="640080"/>
              <a:chOff x="4920996" y="1232095"/>
              <a:chExt cx="2350008" cy="640080"/>
            </a:xfrm>
          </p:grpSpPr>
          <p:sp>
            <p:nvSpPr>
              <p:cNvPr id="40" name="Rectangle: Rounded Corners 39">
                <a:extLst>
                  <a:ext uri="{FF2B5EF4-FFF2-40B4-BE49-F238E27FC236}">
                    <a16:creationId xmlns:a16="http://schemas.microsoft.com/office/drawing/2014/main" id="{DC54289E-5C07-43D1-8FAF-83D087D22760}"/>
                  </a:ext>
                </a:extLst>
              </p:cNvPr>
              <p:cNvSpPr/>
              <p:nvPr/>
            </p:nvSpPr>
            <p:spPr>
              <a:xfrm>
                <a:off x="4920996" y="1232095"/>
                <a:ext cx="2350008" cy="640080"/>
              </a:xfrm>
              <a:prstGeom prst="roundRect">
                <a:avLst>
                  <a:gd name="adj" fmla="val 50000"/>
                </a:avLst>
              </a:prstGeom>
              <a:solidFill>
                <a:schemeClr val="bg1">
                  <a:lumMod val="95000"/>
                </a:schemeClr>
              </a:solidFill>
              <a:ln>
                <a:noFill/>
              </a:ln>
              <a:effectLst>
                <a:outerShdw blurRad="63500" sx="102000" sy="102000" algn="ctr" rotWithShape="0">
                  <a:prstClr val="black">
                    <a:alpha val="40000"/>
                  </a:prstClr>
                </a:outerShdw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NG" dirty="0">
                  <a:solidFill>
                    <a:srgbClr val="B87C4C"/>
                  </a:solidFill>
                </a:endParaRPr>
              </a:p>
            </p:txBody>
          </p:sp>
          <p:sp>
            <p:nvSpPr>
              <p:cNvPr id="48" name="TextBox 47">
                <a:extLst>
                  <a:ext uri="{FF2B5EF4-FFF2-40B4-BE49-F238E27FC236}">
                    <a16:creationId xmlns:a16="http://schemas.microsoft.com/office/drawing/2014/main" id="{74422DC3-0B32-4357-8F13-E126F27A3269}"/>
                  </a:ext>
                </a:extLst>
              </p:cNvPr>
              <p:cNvSpPr txBox="1"/>
              <p:nvPr/>
            </p:nvSpPr>
            <p:spPr>
              <a:xfrm>
                <a:off x="5627800" y="1321303"/>
                <a:ext cx="936400" cy="46166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sz="2400" dirty="0">
                    <a:solidFill>
                      <a:srgbClr val="B87C4C"/>
                    </a:solidFill>
                    <a:latin typeface="Bahnschrift" panose="020B0502040204020203" pitchFamily="34" charset="0"/>
                  </a:rPr>
                  <a:t>Yobe </a:t>
                </a:r>
                <a:endParaRPr lang="en-NG" sz="2400" dirty="0">
                  <a:solidFill>
                    <a:srgbClr val="B87C4C"/>
                  </a:solidFill>
                  <a:latin typeface="Bahnschrift" panose="020B0502040204020203" pitchFamily="34" charset="0"/>
                </a:endParaRPr>
              </a:p>
            </p:txBody>
          </p:sp>
        </p:grpSp>
        <p:sp>
          <p:nvSpPr>
            <p:cNvPr id="17" name="TextBox 16">
              <a:extLst>
                <a:ext uri="{FF2B5EF4-FFF2-40B4-BE49-F238E27FC236}">
                  <a16:creationId xmlns:a16="http://schemas.microsoft.com/office/drawing/2014/main" id="{2D392EE0-1A47-4EB1-83AF-CE16D782C639}"/>
                </a:ext>
              </a:extLst>
            </p:cNvPr>
            <p:cNvSpPr txBox="1"/>
            <p:nvPr/>
          </p:nvSpPr>
          <p:spPr>
            <a:xfrm>
              <a:off x="4415839" y="2134517"/>
              <a:ext cx="2944767" cy="132343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dirty="0">
                  <a:solidFill>
                    <a:srgbClr val="B87C4C"/>
                  </a:solidFill>
                  <a:latin typeface="Bahnschrift" panose="020B0502040204020203" pitchFamily="34" charset="0"/>
                </a:rPr>
                <a:t>Position: Second</a:t>
              </a:r>
            </a:p>
            <a:p>
              <a:r>
                <a:rPr lang="en-US" dirty="0">
                  <a:solidFill>
                    <a:srgbClr val="B87C4C"/>
                  </a:solidFill>
                  <a:latin typeface="Bahnschrift" panose="020B0502040204020203" pitchFamily="34" charset="0"/>
                </a:rPr>
                <a:t>Avg price: </a:t>
              </a:r>
              <a:r>
                <a:rPr lang="en-US" sz="2000" b="1" dirty="0">
                  <a:solidFill>
                    <a:srgbClr val="B87C4C"/>
                  </a:solidFill>
                  <a:latin typeface="Bahnschrift" panose="020B0502040204020203" pitchFamily="34" charset="0"/>
                </a:rPr>
                <a:t>N6,935.50</a:t>
              </a:r>
            </a:p>
            <a:p>
              <a:r>
                <a:rPr lang="en-US" dirty="0">
                  <a:solidFill>
                    <a:srgbClr val="B87C4C"/>
                  </a:solidFill>
                  <a:latin typeface="Bahnschrift" panose="020B0502040204020203" pitchFamily="34" charset="0"/>
                </a:rPr>
                <a:t>MoM: </a:t>
              </a:r>
              <a:r>
                <a:rPr lang="en-US" sz="2000" b="1" dirty="0">
                  <a:solidFill>
                    <a:srgbClr val="DC0E0E"/>
                  </a:solidFill>
                  <a:latin typeface="Bahnschrift" panose="020B0502040204020203" pitchFamily="34" charset="0"/>
                </a:rPr>
                <a:t>14.40%</a:t>
              </a:r>
              <a:endParaRPr lang="en-US" sz="2100" b="1" dirty="0">
                <a:solidFill>
                  <a:srgbClr val="DC0E0E"/>
                </a:solidFill>
                <a:latin typeface="Bahnschrift" panose="020B0502040204020203" pitchFamily="34" charset="0"/>
              </a:endParaRPr>
            </a:p>
            <a:p>
              <a:r>
                <a:rPr lang="en-US" dirty="0">
                  <a:solidFill>
                    <a:srgbClr val="B87C4C"/>
                  </a:solidFill>
                  <a:latin typeface="Bahnschrift" panose="020B0502040204020203" pitchFamily="34" charset="0"/>
                </a:rPr>
                <a:t>YoY: </a:t>
              </a:r>
              <a:r>
                <a:rPr lang="en-US" sz="2000" b="1" dirty="0">
                  <a:solidFill>
                    <a:srgbClr val="DC0E0E"/>
                  </a:solidFill>
                  <a:latin typeface="Bahnschrift" panose="020B0502040204020203" pitchFamily="34" charset="0"/>
                </a:rPr>
                <a:t>68.12%</a:t>
              </a:r>
            </a:p>
          </p:txBody>
        </p:sp>
      </p:grpSp>
      <p:grpSp>
        <p:nvGrpSpPr>
          <p:cNvPr id="23" name="Group 22">
            <a:extLst>
              <a:ext uri="{FF2B5EF4-FFF2-40B4-BE49-F238E27FC236}">
                <a16:creationId xmlns:a16="http://schemas.microsoft.com/office/drawing/2014/main" id="{64B542E9-5A66-467F-8D9E-D4573028819E}"/>
              </a:ext>
            </a:extLst>
          </p:cNvPr>
          <p:cNvGrpSpPr/>
          <p:nvPr/>
        </p:nvGrpSpPr>
        <p:grpSpPr>
          <a:xfrm>
            <a:off x="7723094" y="1066800"/>
            <a:ext cx="3657600" cy="2743200"/>
            <a:chOff x="7723094" y="1066800"/>
            <a:chExt cx="3657600" cy="2743200"/>
          </a:xfrm>
        </p:grpSpPr>
        <p:sp>
          <p:nvSpPr>
            <p:cNvPr id="38" name="Rectangle 37">
              <a:extLst>
                <a:ext uri="{FF2B5EF4-FFF2-40B4-BE49-F238E27FC236}">
                  <a16:creationId xmlns:a16="http://schemas.microsoft.com/office/drawing/2014/main" id="{C678FDC1-C1D2-4786-8871-A2F5F678178D}"/>
                </a:ext>
              </a:extLst>
            </p:cNvPr>
            <p:cNvSpPr/>
            <p:nvPr/>
          </p:nvSpPr>
          <p:spPr>
            <a:xfrm>
              <a:off x="7723094" y="1066800"/>
              <a:ext cx="3657600" cy="274320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NG" dirty="0"/>
            </a:p>
          </p:txBody>
        </p:sp>
        <p:grpSp>
          <p:nvGrpSpPr>
            <p:cNvPr id="11" name="Group 10">
              <a:extLst>
                <a:ext uri="{FF2B5EF4-FFF2-40B4-BE49-F238E27FC236}">
                  <a16:creationId xmlns:a16="http://schemas.microsoft.com/office/drawing/2014/main" id="{60DD081C-B15E-420C-9628-414C975A8BE3}"/>
                </a:ext>
              </a:extLst>
            </p:cNvPr>
            <p:cNvGrpSpPr/>
            <p:nvPr/>
          </p:nvGrpSpPr>
          <p:grpSpPr>
            <a:xfrm>
              <a:off x="8376890" y="1236784"/>
              <a:ext cx="2350008" cy="640080"/>
              <a:chOff x="8584247" y="1236784"/>
              <a:chExt cx="2350008" cy="640080"/>
            </a:xfrm>
          </p:grpSpPr>
          <p:sp>
            <p:nvSpPr>
              <p:cNvPr id="45" name="Rectangle: Rounded Corners 44">
                <a:extLst>
                  <a:ext uri="{FF2B5EF4-FFF2-40B4-BE49-F238E27FC236}">
                    <a16:creationId xmlns:a16="http://schemas.microsoft.com/office/drawing/2014/main" id="{BEE8E0B2-B821-45D9-94A7-4F665DF332EE}"/>
                  </a:ext>
                </a:extLst>
              </p:cNvPr>
              <p:cNvSpPr/>
              <p:nvPr/>
            </p:nvSpPr>
            <p:spPr>
              <a:xfrm>
                <a:off x="8584247" y="1236784"/>
                <a:ext cx="2350008" cy="640080"/>
              </a:xfrm>
              <a:prstGeom prst="roundRect">
                <a:avLst>
                  <a:gd name="adj" fmla="val 50000"/>
                </a:avLst>
              </a:prstGeom>
              <a:solidFill>
                <a:schemeClr val="bg1"/>
              </a:solidFill>
              <a:ln>
                <a:noFill/>
              </a:ln>
              <a:effectLst>
                <a:outerShdw blurRad="63500" sx="102000" sy="102000" algn="ctr" rotWithShape="0">
                  <a:prstClr val="black">
                    <a:alpha val="40000"/>
                  </a:prstClr>
                </a:outerShdw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NG" dirty="0">
                  <a:solidFill>
                    <a:srgbClr val="B87C4C"/>
                  </a:solidFill>
                </a:endParaRPr>
              </a:p>
            </p:txBody>
          </p:sp>
          <p:sp>
            <p:nvSpPr>
              <p:cNvPr id="49" name="TextBox 48">
                <a:extLst>
                  <a:ext uri="{FF2B5EF4-FFF2-40B4-BE49-F238E27FC236}">
                    <a16:creationId xmlns:a16="http://schemas.microsoft.com/office/drawing/2014/main" id="{D6A85F0F-AE49-4A27-A970-E77BABCE1346}"/>
                  </a:ext>
                </a:extLst>
              </p:cNvPr>
              <p:cNvSpPr txBox="1"/>
              <p:nvPr/>
            </p:nvSpPr>
            <p:spPr>
              <a:xfrm>
                <a:off x="9294055" y="1318075"/>
                <a:ext cx="1187342" cy="46166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sz="2400" dirty="0">
                    <a:solidFill>
                      <a:srgbClr val="B87C4C"/>
                    </a:solidFill>
                    <a:latin typeface="Bahnschrift" panose="020B0502040204020203" pitchFamily="34" charset="0"/>
                  </a:rPr>
                  <a:t>Sokoto </a:t>
                </a:r>
                <a:endParaRPr lang="en-NG" sz="2400" dirty="0">
                  <a:solidFill>
                    <a:srgbClr val="B87C4C"/>
                  </a:solidFill>
                  <a:latin typeface="Bahnschrift" panose="020B0502040204020203" pitchFamily="34" charset="0"/>
                </a:endParaRPr>
              </a:p>
            </p:txBody>
          </p:sp>
        </p:grpSp>
        <p:sp>
          <p:nvSpPr>
            <p:cNvPr id="54" name="TextBox 53">
              <a:extLst>
                <a:ext uri="{FF2B5EF4-FFF2-40B4-BE49-F238E27FC236}">
                  <a16:creationId xmlns:a16="http://schemas.microsoft.com/office/drawing/2014/main" id="{47CC380E-57B6-4596-865C-01C581A9B8AD}"/>
                </a:ext>
              </a:extLst>
            </p:cNvPr>
            <p:cNvSpPr txBox="1"/>
            <p:nvPr/>
          </p:nvSpPr>
          <p:spPr>
            <a:xfrm>
              <a:off x="8085582" y="2179368"/>
              <a:ext cx="2944767" cy="129266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dirty="0">
                  <a:solidFill>
                    <a:srgbClr val="B87C4C"/>
                  </a:solidFill>
                  <a:latin typeface="Bahnschrift" panose="020B0502040204020203" pitchFamily="34" charset="0"/>
                </a:rPr>
                <a:t>Position: Third</a:t>
              </a:r>
            </a:p>
            <a:p>
              <a:r>
                <a:rPr lang="en-US" dirty="0">
                  <a:solidFill>
                    <a:srgbClr val="B87C4C"/>
                  </a:solidFill>
                  <a:latin typeface="Bahnschrift" panose="020B0502040204020203" pitchFamily="34" charset="0"/>
                </a:rPr>
                <a:t>Avg price: </a:t>
              </a:r>
              <a:r>
                <a:rPr lang="en-US" sz="2000" b="1" dirty="0">
                  <a:solidFill>
                    <a:srgbClr val="B87C4C"/>
                  </a:solidFill>
                  <a:latin typeface="Bahnschrift" panose="020B0502040204020203" pitchFamily="34" charset="0"/>
                </a:rPr>
                <a:t>N6,750.00</a:t>
              </a:r>
            </a:p>
            <a:p>
              <a:r>
                <a:rPr lang="en-US" dirty="0">
                  <a:solidFill>
                    <a:srgbClr val="B87C4C"/>
                  </a:solidFill>
                  <a:latin typeface="Bahnschrift" panose="020B0502040204020203" pitchFamily="34" charset="0"/>
                </a:rPr>
                <a:t>MoM: </a:t>
              </a:r>
              <a:r>
                <a:rPr lang="en-US" sz="2000" b="1" dirty="0">
                  <a:solidFill>
                    <a:srgbClr val="00B050"/>
                  </a:solidFill>
                  <a:latin typeface="Bahnschrift" panose="020B0502040204020203" pitchFamily="34" charset="0"/>
                </a:rPr>
                <a:t>-3.57%</a:t>
              </a:r>
            </a:p>
            <a:p>
              <a:r>
                <a:rPr lang="en-US" dirty="0">
                  <a:solidFill>
                    <a:srgbClr val="B87C4C"/>
                  </a:solidFill>
                  <a:latin typeface="Bahnschrift" panose="020B0502040204020203" pitchFamily="34" charset="0"/>
                </a:rPr>
                <a:t>YoY: </a:t>
              </a:r>
              <a:r>
                <a:rPr lang="en-US" sz="2000" b="1" dirty="0">
                  <a:solidFill>
                    <a:srgbClr val="DC0E0E"/>
                  </a:solidFill>
                  <a:latin typeface="Bahnschrift" panose="020B0502040204020203" pitchFamily="34" charset="0"/>
                </a:rPr>
                <a:t>61.23%</a:t>
              </a:r>
              <a:endParaRPr lang="en-US" b="1" dirty="0">
                <a:solidFill>
                  <a:srgbClr val="DC0E0E"/>
                </a:solidFill>
                <a:latin typeface="Bahnschrift" panose="020B0502040204020203" pitchFamily="34" charset="0"/>
              </a:endParaRPr>
            </a:p>
          </p:txBody>
        </p:sp>
      </p:grpSp>
      <p:grpSp>
        <p:nvGrpSpPr>
          <p:cNvPr id="58" name="Group 57">
            <a:extLst>
              <a:ext uri="{FF2B5EF4-FFF2-40B4-BE49-F238E27FC236}">
                <a16:creationId xmlns:a16="http://schemas.microsoft.com/office/drawing/2014/main" id="{7DE11D98-1C14-4BFE-8258-ED98A5FEB293}"/>
              </a:ext>
            </a:extLst>
          </p:cNvPr>
          <p:cNvGrpSpPr/>
          <p:nvPr/>
        </p:nvGrpSpPr>
        <p:grpSpPr>
          <a:xfrm>
            <a:off x="4065494" y="3810000"/>
            <a:ext cx="3657600" cy="2743200"/>
            <a:chOff x="4065494" y="3810000"/>
            <a:chExt cx="3657600" cy="2743200"/>
          </a:xfrm>
        </p:grpSpPr>
        <p:sp>
          <p:nvSpPr>
            <p:cNvPr id="28" name="Rectangle 27">
              <a:extLst>
                <a:ext uri="{FF2B5EF4-FFF2-40B4-BE49-F238E27FC236}">
                  <a16:creationId xmlns:a16="http://schemas.microsoft.com/office/drawing/2014/main" id="{C5147402-04C6-4E17-812C-8D72C671DC07}"/>
                </a:ext>
              </a:extLst>
            </p:cNvPr>
            <p:cNvSpPr/>
            <p:nvPr/>
          </p:nvSpPr>
          <p:spPr>
            <a:xfrm>
              <a:off x="4065494" y="3810000"/>
              <a:ext cx="3657600" cy="274320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NG" dirty="0"/>
            </a:p>
          </p:txBody>
        </p:sp>
        <p:grpSp>
          <p:nvGrpSpPr>
            <p:cNvPr id="15" name="Group 14">
              <a:extLst>
                <a:ext uri="{FF2B5EF4-FFF2-40B4-BE49-F238E27FC236}">
                  <a16:creationId xmlns:a16="http://schemas.microsoft.com/office/drawing/2014/main" id="{D989CEDA-942C-4AD8-B6E2-84733852FC5D}"/>
                </a:ext>
              </a:extLst>
            </p:cNvPr>
            <p:cNvGrpSpPr/>
            <p:nvPr/>
          </p:nvGrpSpPr>
          <p:grpSpPr>
            <a:xfrm>
              <a:off x="4719290" y="4077416"/>
              <a:ext cx="2350008" cy="640080"/>
              <a:chOff x="4942510" y="4077416"/>
              <a:chExt cx="2350008" cy="640080"/>
            </a:xfrm>
          </p:grpSpPr>
          <p:sp>
            <p:nvSpPr>
              <p:cNvPr id="46" name="Rectangle: Rounded Corners 45">
                <a:extLst>
                  <a:ext uri="{FF2B5EF4-FFF2-40B4-BE49-F238E27FC236}">
                    <a16:creationId xmlns:a16="http://schemas.microsoft.com/office/drawing/2014/main" id="{FE565482-1DA1-4850-901C-50DF015C87E9}"/>
                  </a:ext>
                </a:extLst>
              </p:cNvPr>
              <p:cNvSpPr/>
              <p:nvPr/>
            </p:nvSpPr>
            <p:spPr>
              <a:xfrm>
                <a:off x="4942510" y="4077416"/>
                <a:ext cx="2350008" cy="640080"/>
              </a:xfrm>
              <a:prstGeom prst="roundRect">
                <a:avLst>
                  <a:gd name="adj" fmla="val 50000"/>
                </a:avLst>
              </a:prstGeom>
              <a:solidFill>
                <a:schemeClr val="bg1"/>
              </a:solidFill>
              <a:ln>
                <a:noFill/>
              </a:ln>
              <a:effectLst>
                <a:outerShdw blurRad="63500" sx="102000" sy="102000" algn="ctr" rotWithShape="0">
                  <a:prstClr val="black">
                    <a:alpha val="40000"/>
                  </a:prstClr>
                </a:outerShdw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NG" dirty="0">
                  <a:solidFill>
                    <a:srgbClr val="B87C4C"/>
                  </a:solidFill>
                </a:endParaRPr>
              </a:p>
            </p:txBody>
          </p:sp>
          <p:sp>
            <p:nvSpPr>
              <p:cNvPr id="52" name="TextBox 51">
                <a:extLst>
                  <a:ext uri="{FF2B5EF4-FFF2-40B4-BE49-F238E27FC236}">
                    <a16:creationId xmlns:a16="http://schemas.microsoft.com/office/drawing/2014/main" id="{DC895539-CAD0-447C-8590-177F8473B919}"/>
                  </a:ext>
                </a:extLst>
              </p:cNvPr>
              <p:cNvSpPr txBox="1"/>
              <p:nvPr/>
            </p:nvSpPr>
            <p:spPr>
              <a:xfrm>
                <a:off x="5590337" y="4161934"/>
                <a:ext cx="1054354" cy="46166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sz="2400" dirty="0">
                    <a:solidFill>
                      <a:srgbClr val="B87C4C"/>
                    </a:solidFill>
                    <a:latin typeface="Bahnschrift" panose="020B0502040204020203" pitchFamily="34" charset="0"/>
                  </a:rPr>
                  <a:t>Benue </a:t>
                </a:r>
                <a:endParaRPr lang="en-NG" sz="2400" dirty="0">
                  <a:solidFill>
                    <a:srgbClr val="B87C4C"/>
                  </a:solidFill>
                  <a:latin typeface="Bahnschrift" panose="020B0502040204020203" pitchFamily="34" charset="0"/>
                </a:endParaRPr>
              </a:p>
            </p:txBody>
          </p:sp>
        </p:grpSp>
        <p:sp>
          <p:nvSpPr>
            <p:cNvPr id="55" name="TextBox 54">
              <a:extLst>
                <a:ext uri="{FF2B5EF4-FFF2-40B4-BE49-F238E27FC236}">
                  <a16:creationId xmlns:a16="http://schemas.microsoft.com/office/drawing/2014/main" id="{DDE26EF1-E980-4BCF-B0D3-2C476536BCA2}"/>
                </a:ext>
              </a:extLst>
            </p:cNvPr>
            <p:cNvSpPr txBox="1"/>
            <p:nvPr/>
          </p:nvSpPr>
          <p:spPr>
            <a:xfrm>
              <a:off x="4415839" y="5024689"/>
              <a:ext cx="2944767" cy="129266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dirty="0">
                  <a:solidFill>
                    <a:srgbClr val="B87C4C"/>
                  </a:solidFill>
                  <a:latin typeface="Bahnschrift" panose="020B0502040204020203" pitchFamily="34" charset="0"/>
                </a:rPr>
                <a:t>Position: Fourth</a:t>
              </a:r>
            </a:p>
            <a:p>
              <a:r>
                <a:rPr lang="en-US" dirty="0">
                  <a:solidFill>
                    <a:srgbClr val="B87C4C"/>
                  </a:solidFill>
                  <a:latin typeface="Bahnschrift" panose="020B0502040204020203" pitchFamily="34" charset="0"/>
                </a:rPr>
                <a:t>Avg price: </a:t>
              </a:r>
              <a:r>
                <a:rPr lang="en-US" sz="2000" b="1" dirty="0">
                  <a:solidFill>
                    <a:srgbClr val="B87C4C"/>
                  </a:solidFill>
                  <a:latin typeface="Bahnschrift" panose="020B0502040204020203" pitchFamily="34" charset="0"/>
                </a:rPr>
                <a:t>N6,491.00</a:t>
              </a:r>
              <a:endParaRPr lang="en-US" b="1" dirty="0">
                <a:solidFill>
                  <a:srgbClr val="B87C4C"/>
                </a:solidFill>
                <a:latin typeface="Bahnschrift" panose="020B0502040204020203" pitchFamily="34" charset="0"/>
              </a:endParaRPr>
            </a:p>
            <a:p>
              <a:r>
                <a:rPr lang="en-US" dirty="0">
                  <a:solidFill>
                    <a:srgbClr val="B87C4C"/>
                  </a:solidFill>
                  <a:latin typeface="Bahnschrift" panose="020B0502040204020203" pitchFamily="34" charset="0"/>
                </a:rPr>
                <a:t>MoM: </a:t>
              </a:r>
              <a:r>
                <a:rPr lang="en-US" sz="2000" b="1" dirty="0">
                  <a:solidFill>
                    <a:srgbClr val="00B050"/>
                  </a:solidFill>
                  <a:latin typeface="Bahnschrift" panose="020B0502040204020203" pitchFamily="34" charset="0"/>
                </a:rPr>
                <a:t>-11.52%</a:t>
              </a:r>
            </a:p>
            <a:p>
              <a:r>
                <a:rPr lang="en-US" dirty="0">
                  <a:solidFill>
                    <a:srgbClr val="B87C4C"/>
                  </a:solidFill>
                  <a:latin typeface="Bahnschrift" panose="020B0502040204020203" pitchFamily="34" charset="0"/>
                </a:rPr>
                <a:t>YoY: </a:t>
              </a:r>
              <a:r>
                <a:rPr lang="en-US" sz="2000" b="1" dirty="0">
                  <a:solidFill>
                    <a:srgbClr val="DC0E0E"/>
                  </a:solidFill>
                  <a:latin typeface="Bahnschrift" panose="020B0502040204020203" pitchFamily="34" charset="0"/>
                </a:rPr>
                <a:t>41.73%</a:t>
              </a:r>
              <a:endParaRPr lang="en-US" b="1" dirty="0">
                <a:solidFill>
                  <a:srgbClr val="DC0E0E"/>
                </a:solidFill>
                <a:latin typeface="Bahnschrift" panose="020B0502040204020203" pitchFamily="34" charset="0"/>
              </a:endParaRPr>
            </a:p>
          </p:txBody>
        </p:sp>
      </p:grpSp>
      <p:grpSp>
        <p:nvGrpSpPr>
          <p:cNvPr id="57" name="Group 56">
            <a:extLst>
              <a:ext uri="{FF2B5EF4-FFF2-40B4-BE49-F238E27FC236}">
                <a16:creationId xmlns:a16="http://schemas.microsoft.com/office/drawing/2014/main" id="{FF5A374C-5ADE-4003-A2F6-436B103C764C}"/>
              </a:ext>
            </a:extLst>
          </p:cNvPr>
          <p:cNvGrpSpPr/>
          <p:nvPr/>
        </p:nvGrpSpPr>
        <p:grpSpPr>
          <a:xfrm>
            <a:off x="7723094" y="3810000"/>
            <a:ext cx="3657600" cy="2743200"/>
            <a:chOff x="7723094" y="3810000"/>
            <a:chExt cx="3657600" cy="2743200"/>
          </a:xfrm>
        </p:grpSpPr>
        <p:sp>
          <p:nvSpPr>
            <p:cNvPr id="39" name="Rectangle 38">
              <a:extLst>
                <a:ext uri="{FF2B5EF4-FFF2-40B4-BE49-F238E27FC236}">
                  <a16:creationId xmlns:a16="http://schemas.microsoft.com/office/drawing/2014/main" id="{5CFC9D68-8378-4962-A25D-F4A4420A4885}"/>
                </a:ext>
              </a:extLst>
            </p:cNvPr>
            <p:cNvSpPr/>
            <p:nvPr/>
          </p:nvSpPr>
          <p:spPr>
            <a:xfrm>
              <a:off x="7723094" y="3810000"/>
              <a:ext cx="3657600" cy="2743200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NG" dirty="0"/>
            </a:p>
          </p:txBody>
        </p:sp>
        <p:grpSp>
          <p:nvGrpSpPr>
            <p:cNvPr id="13" name="Group 12">
              <a:extLst>
                <a:ext uri="{FF2B5EF4-FFF2-40B4-BE49-F238E27FC236}">
                  <a16:creationId xmlns:a16="http://schemas.microsoft.com/office/drawing/2014/main" id="{761871C6-C338-45F7-8C46-6D23A245360F}"/>
                </a:ext>
              </a:extLst>
            </p:cNvPr>
            <p:cNvGrpSpPr/>
            <p:nvPr/>
          </p:nvGrpSpPr>
          <p:grpSpPr>
            <a:xfrm>
              <a:off x="8376890" y="4077416"/>
              <a:ext cx="2350008" cy="640080"/>
              <a:chOff x="8584247" y="4077416"/>
              <a:chExt cx="2350008" cy="640080"/>
            </a:xfrm>
          </p:grpSpPr>
          <p:sp>
            <p:nvSpPr>
              <p:cNvPr id="47" name="Rectangle: Rounded Corners 46">
                <a:extLst>
                  <a:ext uri="{FF2B5EF4-FFF2-40B4-BE49-F238E27FC236}">
                    <a16:creationId xmlns:a16="http://schemas.microsoft.com/office/drawing/2014/main" id="{299B76CA-2DC6-429D-BDA9-C19970339B2E}"/>
                  </a:ext>
                </a:extLst>
              </p:cNvPr>
              <p:cNvSpPr/>
              <p:nvPr/>
            </p:nvSpPr>
            <p:spPr>
              <a:xfrm>
                <a:off x="8584247" y="4077416"/>
                <a:ext cx="2350008" cy="640080"/>
              </a:xfrm>
              <a:prstGeom prst="roundRect">
                <a:avLst>
                  <a:gd name="adj" fmla="val 50000"/>
                </a:avLst>
              </a:prstGeom>
              <a:solidFill>
                <a:schemeClr val="bg1">
                  <a:lumMod val="95000"/>
                </a:schemeClr>
              </a:solidFill>
              <a:ln>
                <a:noFill/>
              </a:ln>
              <a:effectLst>
                <a:outerShdw blurRad="63500" sx="102000" sy="102000" algn="ctr" rotWithShape="0">
                  <a:prstClr val="black">
                    <a:alpha val="40000"/>
                  </a:prstClr>
                </a:outerShdw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NG" dirty="0">
                  <a:solidFill>
                    <a:srgbClr val="B87C4C"/>
                  </a:solidFill>
                </a:endParaRPr>
              </a:p>
            </p:txBody>
          </p:sp>
          <p:sp>
            <p:nvSpPr>
              <p:cNvPr id="51" name="TextBox 50">
                <a:extLst>
                  <a:ext uri="{FF2B5EF4-FFF2-40B4-BE49-F238E27FC236}">
                    <a16:creationId xmlns:a16="http://schemas.microsoft.com/office/drawing/2014/main" id="{83C35B48-C11C-4179-BF04-0E5E0EBD57C5}"/>
                  </a:ext>
                </a:extLst>
              </p:cNvPr>
              <p:cNvSpPr txBox="1"/>
              <p:nvPr/>
            </p:nvSpPr>
            <p:spPr>
              <a:xfrm>
                <a:off x="9165580" y="4161934"/>
                <a:ext cx="1187342" cy="46166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sz="2400" dirty="0">
                    <a:solidFill>
                      <a:srgbClr val="B87C4C"/>
                    </a:solidFill>
                    <a:latin typeface="Bahnschrift" panose="020B0502040204020203" pitchFamily="34" charset="0"/>
                  </a:rPr>
                  <a:t>Bauchi </a:t>
                </a:r>
                <a:endParaRPr lang="en-NG" sz="2400" dirty="0">
                  <a:solidFill>
                    <a:srgbClr val="B87C4C"/>
                  </a:solidFill>
                  <a:latin typeface="Bahnschrift" panose="020B0502040204020203" pitchFamily="34" charset="0"/>
                </a:endParaRPr>
              </a:p>
            </p:txBody>
          </p:sp>
        </p:grpSp>
        <p:sp>
          <p:nvSpPr>
            <p:cNvPr id="56" name="TextBox 55">
              <a:extLst>
                <a:ext uri="{FF2B5EF4-FFF2-40B4-BE49-F238E27FC236}">
                  <a16:creationId xmlns:a16="http://schemas.microsoft.com/office/drawing/2014/main" id="{809BACC3-CF72-4E61-97C4-0D3B94EF1C9D}"/>
                </a:ext>
              </a:extLst>
            </p:cNvPr>
            <p:cNvSpPr txBox="1"/>
            <p:nvPr/>
          </p:nvSpPr>
          <p:spPr>
            <a:xfrm>
              <a:off x="8079510" y="5024689"/>
              <a:ext cx="2944767" cy="129266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dirty="0">
                  <a:solidFill>
                    <a:srgbClr val="B87C4C"/>
                  </a:solidFill>
                  <a:latin typeface="Bahnschrift" panose="020B0502040204020203" pitchFamily="34" charset="0"/>
                </a:rPr>
                <a:t>Position: Fifth</a:t>
              </a:r>
            </a:p>
            <a:p>
              <a:r>
                <a:rPr lang="en-US" dirty="0">
                  <a:solidFill>
                    <a:srgbClr val="B87C4C"/>
                  </a:solidFill>
                  <a:latin typeface="Bahnschrift" panose="020B0502040204020203" pitchFamily="34" charset="0"/>
                </a:rPr>
                <a:t>Avg price: </a:t>
              </a:r>
              <a:r>
                <a:rPr lang="en-US" sz="2000" b="1" dirty="0">
                  <a:solidFill>
                    <a:srgbClr val="B87C4C"/>
                  </a:solidFill>
                  <a:latin typeface="Bahnschrift" panose="020B0502040204020203" pitchFamily="34" charset="0"/>
                </a:rPr>
                <a:t>N6,395.00</a:t>
              </a:r>
            </a:p>
            <a:p>
              <a:r>
                <a:rPr lang="en-US" dirty="0">
                  <a:solidFill>
                    <a:srgbClr val="B87C4C"/>
                  </a:solidFill>
                  <a:latin typeface="Bahnschrift" panose="020B0502040204020203" pitchFamily="34" charset="0"/>
                </a:rPr>
                <a:t>MoM: </a:t>
              </a:r>
              <a:r>
                <a:rPr lang="en-US" sz="2000" b="1" dirty="0">
                  <a:solidFill>
                    <a:srgbClr val="00B050"/>
                  </a:solidFill>
                  <a:latin typeface="Bahnschrift" panose="020B0502040204020203" pitchFamily="34" charset="0"/>
                </a:rPr>
                <a:t>-8.64%</a:t>
              </a:r>
            </a:p>
            <a:p>
              <a:r>
                <a:rPr lang="en-US" dirty="0">
                  <a:solidFill>
                    <a:srgbClr val="B87C4C"/>
                  </a:solidFill>
                  <a:latin typeface="Bahnschrift" panose="020B0502040204020203" pitchFamily="34" charset="0"/>
                </a:rPr>
                <a:t>YoY: </a:t>
              </a:r>
              <a:r>
                <a:rPr lang="en-US" sz="2000" b="1" dirty="0">
                  <a:solidFill>
                    <a:srgbClr val="DC0E0E"/>
                  </a:solidFill>
                  <a:latin typeface="Bahnschrift" panose="020B0502040204020203" pitchFamily="34" charset="0"/>
                </a:rPr>
                <a:t>51.24%</a:t>
              </a:r>
              <a:endParaRPr lang="en-US" b="1" dirty="0">
                <a:solidFill>
                  <a:srgbClr val="DC0E0E"/>
                </a:solidFill>
                <a:latin typeface="Bahnschrift" panose="020B0502040204020203" pitchFamily="34" charset="0"/>
              </a:endParaRPr>
            </a:p>
          </p:txBody>
        </p:sp>
      </p:grpSp>
      <p:grpSp>
        <p:nvGrpSpPr>
          <p:cNvPr id="20" name="Group 19">
            <a:extLst>
              <a:ext uri="{FF2B5EF4-FFF2-40B4-BE49-F238E27FC236}">
                <a16:creationId xmlns:a16="http://schemas.microsoft.com/office/drawing/2014/main" id="{468EAA90-F60A-4F49-859D-10BD6EE8205E}"/>
              </a:ext>
            </a:extLst>
          </p:cNvPr>
          <p:cNvGrpSpPr/>
          <p:nvPr/>
        </p:nvGrpSpPr>
        <p:grpSpPr>
          <a:xfrm>
            <a:off x="407894" y="1066800"/>
            <a:ext cx="3657600" cy="5486400"/>
            <a:chOff x="407894" y="1066800"/>
            <a:chExt cx="3657600" cy="5486400"/>
          </a:xfrm>
        </p:grpSpPr>
        <p:sp>
          <p:nvSpPr>
            <p:cNvPr id="2" name="Rectangle 1">
              <a:extLst>
                <a:ext uri="{FF2B5EF4-FFF2-40B4-BE49-F238E27FC236}">
                  <a16:creationId xmlns:a16="http://schemas.microsoft.com/office/drawing/2014/main" id="{12E001D9-6122-4BF2-A593-C840D15C3B54}"/>
                </a:ext>
              </a:extLst>
            </p:cNvPr>
            <p:cNvSpPr/>
            <p:nvPr/>
          </p:nvSpPr>
          <p:spPr>
            <a:xfrm>
              <a:off x="407894" y="1066800"/>
              <a:ext cx="3657600" cy="5486400"/>
            </a:xfrm>
            <a:prstGeom prst="rect">
              <a:avLst/>
            </a:prstGeom>
            <a:solidFill>
              <a:srgbClr val="B87C4C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NG" dirty="0"/>
            </a:p>
          </p:txBody>
        </p:sp>
        <p:grpSp>
          <p:nvGrpSpPr>
            <p:cNvPr id="9" name="Group 8">
              <a:extLst>
                <a:ext uri="{FF2B5EF4-FFF2-40B4-BE49-F238E27FC236}">
                  <a16:creationId xmlns:a16="http://schemas.microsoft.com/office/drawing/2014/main" id="{FC3CA3C2-E7C8-4CFE-AB62-F772D164AC4B}"/>
                </a:ext>
              </a:extLst>
            </p:cNvPr>
            <p:cNvGrpSpPr/>
            <p:nvPr/>
          </p:nvGrpSpPr>
          <p:grpSpPr>
            <a:xfrm>
              <a:off x="1061690" y="1232095"/>
              <a:ext cx="2350008" cy="640080"/>
              <a:chOff x="1061690" y="1232095"/>
              <a:chExt cx="2350008" cy="640080"/>
            </a:xfrm>
          </p:grpSpPr>
          <p:sp>
            <p:nvSpPr>
              <p:cNvPr id="44" name="Rectangle: Rounded Corners 43">
                <a:extLst>
                  <a:ext uri="{FF2B5EF4-FFF2-40B4-BE49-F238E27FC236}">
                    <a16:creationId xmlns:a16="http://schemas.microsoft.com/office/drawing/2014/main" id="{7F05D986-AAE3-43FD-A5DC-4B4D08550DE5}"/>
                  </a:ext>
                </a:extLst>
              </p:cNvPr>
              <p:cNvSpPr/>
              <p:nvPr/>
            </p:nvSpPr>
            <p:spPr>
              <a:xfrm>
                <a:off x="1061690" y="1232095"/>
                <a:ext cx="2350008" cy="640080"/>
              </a:xfrm>
              <a:prstGeom prst="roundRect">
                <a:avLst>
                  <a:gd name="adj" fmla="val 50000"/>
                </a:avLst>
              </a:prstGeom>
              <a:solidFill>
                <a:srgbClr val="B87C4C"/>
              </a:solidFill>
              <a:ln>
                <a:noFill/>
              </a:ln>
              <a:effectLst>
                <a:outerShdw blurRad="63500" sx="102000" sy="102000" algn="ctr" rotWithShape="0">
                  <a:prstClr val="black">
                    <a:alpha val="40000"/>
                  </a:prstClr>
                </a:outerShdw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NG" dirty="0"/>
              </a:p>
            </p:txBody>
          </p:sp>
          <p:sp>
            <p:nvSpPr>
              <p:cNvPr id="3" name="TextBox 2">
                <a:extLst>
                  <a:ext uri="{FF2B5EF4-FFF2-40B4-BE49-F238E27FC236}">
                    <a16:creationId xmlns:a16="http://schemas.microsoft.com/office/drawing/2014/main" id="{75B9E45A-5343-477F-858E-26A9210E7267}"/>
                  </a:ext>
                </a:extLst>
              </p:cNvPr>
              <p:cNvSpPr txBox="1"/>
              <p:nvPr/>
            </p:nvSpPr>
            <p:spPr>
              <a:xfrm>
                <a:off x="1710603" y="1321303"/>
                <a:ext cx="1052182" cy="46166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sz="2400" b="0" i="0" u="none" strike="noStrike" dirty="0">
                    <a:solidFill>
                      <a:schemeClr val="bg1"/>
                    </a:solidFill>
                    <a:effectLst/>
                    <a:latin typeface="Bahnschrift" panose="020B0502040204020203" pitchFamily="34" charset="0"/>
                  </a:rPr>
                  <a:t>Borno</a:t>
                </a:r>
                <a:r>
                  <a:rPr lang="en-US" sz="2400" dirty="0">
                    <a:solidFill>
                      <a:schemeClr val="bg1"/>
                    </a:solidFill>
                    <a:latin typeface="Bahnschrift" panose="020B0502040204020203" pitchFamily="34" charset="0"/>
                  </a:rPr>
                  <a:t> </a:t>
                </a:r>
                <a:endParaRPr lang="en-NG" sz="2400" dirty="0">
                  <a:solidFill>
                    <a:schemeClr val="bg1"/>
                  </a:solidFill>
                  <a:latin typeface="Bahnschrift" panose="020B0502040204020203" pitchFamily="34" charset="0"/>
                </a:endParaRPr>
              </a:p>
            </p:txBody>
          </p:sp>
        </p:grpSp>
        <p:sp>
          <p:nvSpPr>
            <p:cNvPr id="18" name="TextBox 17">
              <a:extLst>
                <a:ext uri="{FF2B5EF4-FFF2-40B4-BE49-F238E27FC236}">
                  <a16:creationId xmlns:a16="http://schemas.microsoft.com/office/drawing/2014/main" id="{AA25EBA4-E2A9-4ADC-B525-2B7F49A97113}"/>
                </a:ext>
              </a:extLst>
            </p:cNvPr>
            <p:cNvSpPr txBox="1"/>
            <p:nvPr/>
          </p:nvSpPr>
          <p:spPr>
            <a:xfrm>
              <a:off x="785931" y="1899776"/>
              <a:ext cx="3041824" cy="458587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dirty="0">
                  <a:solidFill>
                    <a:schemeClr val="bg1"/>
                  </a:solidFill>
                  <a:latin typeface="Bahnschrift" panose="020B0502040204020203" pitchFamily="34" charset="0"/>
                </a:rPr>
                <a:t>The average price of cooking gas in Borno is </a:t>
              </a:r>
              <a:r>
                <a:rPr lang="en-US" sz="2000" b="1" dirty="0">
                  <a:solidFill>
                    <a:schemeClr val="bg1"/>
                  </a:solidFill>
                  <a:latin typeface="Bahnschrift" panose="020B0502040204020203" pitchFamily="34" charset="0"/>
                </a:rPr>
                <a:t>N7,088.59,</a:t>
              </a:r>
              <a:r>
                <a:rPr lang="en-US" dirty="0">
                  <a:solidFill>
                    <a:schemeClr val="bg1"/>
                  </a:solidFill>
                  <a:latin typeface="Bahnschrift" panose="020B0502040204020203" pitchFamily="34" charset="0"/>
                </a:rPr>
                <a:t> making it the state with the highest average price in the entire country.</a:t>
              </a:r>
            </a:p>
            <a:p>
              <a:endParaRPr lang="en-US" dirty="0">
                <a:solidFill>
                  <a:schemeClr val="bg1"/>
                </a:solidFill>
                <a:latin typeface="Bahnschrift" panose="020B0502040204020203" pitchFamily="34" charset="0"/>
              </a:endParaRPr>
            </a:p>
            <a:p>
              <a:r>
                <a:rPr lang="en-US" dirty="0">
                  <a:solidFill>
                    <a:schemeClr val="bg1"/>
                  </a:solidFill>
                  <a:latin typeface="Bahnschrift" panose="020B0502040204020203" pitchFamily="34" charset="0"/>
                </a:rPr>
                <a:t>It experienced a </a:t>
              </a:r>
              <a:r>
                <a:rPr lang="en-NG" sz="2000" b="1" i="0" u="none" strike="noStrike" dirty="0">
                  <a:solidFill>
                    <a:srgbClr val="00B050"/>
                  </a:solidFill>
                  <a:effectLst/>
                  <a:latin typeface="Bahnschrift" panose="020B0502040204020203" pitchFamily="34" charset="0"/>
                </a:rPr>
                <a:t>-1.36</a:t>
              </a:r>
              <a:r>
                <a:rPr lang="en-US" sz="2000" b="1" i="0" u="none" strike="noStrike" dirty="0">
                  <a:solidFill>
                    <a:srgbClr val="00B050"/>
                  </a:solidFill>
                  <a:effectLst/>
                  <a:latin typeface="Bahnschrift" panose="020B0502040204020203" pitchFamily="34" charset="0"/>
                </a:rPr>
                <a:t>%</a:t>
              </a:r>
              <a:r>
                <a:rPr lang="en-NG" sz="2000" b="1" dirty="0">
                  <a:solidFill>
                    <a:srgbClr val="00B050"/>
                  </a:solidFill>
                  <a:latin typeface="Bahnschrift" panose="020B0502040204020203" pitchFamily="34" charset="0"/>
                </a:rPr>
                <a:t> </a:t>
              </a:r>
              <a:r>
                <a:rPr lang="en-US" sz="2000" b="1" dirty="0">
                  <a:solidFill>
                    <a:srgbClr val="00B050"/>
                  </a:solidFill>
                  <a:latin typeface="Bahnschrift" panose="020B0502040204020203" pitchFamily="34" charset="0"/>
                </a:rPr>
                <a:t> </a:t>
              </a:r>
              <a:r>
                <a:rPr lang="en-US" dirty="0">
                  <a:solidFill>
                    <a:schemeClr val="bg1"/>
                  </a:solidFill>
                  <a:latin typeface="Bahnschrift" panose="020B0502040204020203" pitchFamily="34" charset="0"/>
                </a:rPr>
                <a:t>decline in its price compared to the previous month.</a:t>
              </a:r>
            </a:p>
            <a:p>
              <a:endParaRPr lang="en-US" dirty="0">
                <a:solidFill>
                  <a:schemeClr val="bg1"/>
                </a:solidFill>
                <a:latin typeface="Bahnschrift" panose="020B0502040204020203" pitchFamily="34" charset="0"/>
              </a:endParaRPr>
            </a:p>
            <a:p>
              <a:r>
                <a:rPr lang="en-US" dirty="0">
                  <a:solidFill>
                    <a:schemeClr val="bg1"/>
                  </a:solidFill>
                  <a:latin typeface="Bahnschrift" panose="020B0502040204020203" pitchFamily="34" charset="0"/>
                </a:rPr>
                <a:t>However, compared to  the same period last year, Borno saw a notable </a:t>
              </a:r>
              <a:r>
                <a:rPr lang="en-NG" sz="1800" b="1" i="0" u="none" strike="noStrike" dirty="0">
                  <a:solidFill>
                    <a:srgbClr val="DC0E0E"/>
                  </a:solidFill>
                  <a:effectLst/>
                  <a:latin typeface="Bahnschrift" panose="020B0502040204020203" pitchFamily="34" charset="0"/>
                </a:rPr>
                <a:t>87.27</a:t>
              </a:r>
              <a:r>
                <a:rPr lang="en-US" sz="1800" b="1" i="0" u="none" strike="noStrike" dirty="0">
                  <a:solidFill>
                    <a:srgbClr val="DC0E0E"/>
                  </a:solidFill>
                  <a:effectLst/>
                  <a:latin typeface="Bahnschrift" panose="020B0502040204020203" pitchFamily="34" charset="0"/>
                </a:rPr>
                <a:t>%</a:t>
              </a:r>
              <a:r>
                <a:rPr lang="en-US" dirty="0">
                  <a:solidFill>
                    <a:schemeClr val="bg1"/>
                  </a:solidFill>
                  <a:latin typeface="Bahnschrift" panose="020B0502040204020203" pitchFamily="34" charset="0"/>
                </a:rPr>
                <a:t> increase in price </a:t>
              </a:r>
              <a:endParaRPr lang="en-NG" dirty="0">
                <a:solidFill>
                  <a:schemeClr val="bg1"/>
                </a:solidFill>
                <a:latin typeface="Bahnschrift" panose="020B0502040204020203" pitchFamily="34" charset="0"/>
              </a:endParaRPr>
            </a:p>
          </p:txBody>
        </p:sp>
      </p:grpSp>
      <p:sp>
        <p:nvSpPr>
          <p:cNvPr id="35" name="TextBox 34">
            <a:extLst>
              <a:ext uri="{FF2B5EF4-FFF2-40B4-BE49-F238E27FC236}">
                <a16:creationId xmlns:a16="http://schemas.microsoft.com/office/drawing/2014/main" id="{D8361463-C97D-43E9-9294-839258C93195}"/>
              </a:ext>
            </a:extLst>
          </p:cNvPr>
          <p:cNvSpPr txBox="1"/>
          <p:nvPr/>
        </p:nvSpPr>
        <p:spPr>
          <a:xfrm>
            <a:off x="-1" y="6580801"/>
            <a:ext cx="3398009" cy="3231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500" b="1" dirty="0">
                <a:solidFill>
                  <a:srgbClr val="B87C4C"/>
                </a:solidFill>
              </a:rPr>
              <a:t>Source : National Bureau of Statistics</a:t>
            </a:r>
            <a:endParaRPr lang="en-NG" sz="1500" b="1" dirty="0">
              <a:solidFill>
                <a:srgbClr val="B87C4C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41294922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 advClick="0" advTm="1000">
        <p:split orient="vert"/>
      </p:transition>
    </mc:Choice>
    <mc:Fallback xmlns="">
      <p:transition spd="slow" advClick="0" advTm="1000">
        <p:split orient="vert"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75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75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5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500" fill="hold"/>
                                        <p:tgtEl>
                                          <p:spTgt spid="5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8" dur="500" fill="hold"/>
                                        <p:tgtEl>
                                          <p:spTgt spid="5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9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1" dur="500" fill="hold"/>
                                        <p:tgtEl>
                                          <p:spTgt spid="5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2" dur="500" fill="hold"/>
                                        <p:tgtEl>
                                          <p:spTgt spid="5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3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ight Triangle 3">
            <a:extLst>
              <a:ext uri="{FF2B5EF4-FFF2-40B4-BE49-F238E27FC236}">
                <a16:creationId xmlns:a16="http://schemas.microsoft.com/office/drawing/2014/main" id="{1A4177E6-5B82-44AF-9CDB-D1980A373276}"/>
              </a:ext>
            </a:extLst>
          </p:cNvPr>
          <p:cNvSpPr/>
          <p:nvPr/>
        </p:nvSpPr>
        <p:spPr>
          <a:xfrm rot="5400000">
            <a:off x="81989" y="-81990"/>
            <a:ext cx="798550" cy="962529"/>
          </a:xfrm>
          <a:prstGeom prst="rtTriangle">
            <a:avLst/>
          </a:prstGeom>
          <a:solidFill>
            <a:srgbClr val="B87C4C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NG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3977245F-E201-4735-B2F8-262F71B3C15B}"/>
              </a:ext>
            </a:extLst>
          </p:cNvPr>
          <p:cNvSpPr txBox="1"/>
          <p:nvPr/>
        </p:nvSpPr>
        <p:spPr>
          <a:xfrm>
            <a:off x="1905533" y="336885"/>
            <a:ext cx="8380934" cy="461665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pPr algn="ctr"/>
            <a:r>
              <a:rPr lang="en-US" sz="2400" b="1" dirty="0">
                <a:solidFill>
                  <a:srgbClr val="B87C4C"/>
                </a:solidFill>
                <a:latin typeface="Bahnschrift" panose="020B0502040204020203" pitchFamily="34" charset="0"/>
              </a:rPr>
              <a:t>States with the lowest average price of cooking gas -5KG</a:t>
            </a:r>
            <a:endParaRPr lang="en-NG" sz="2400" b="1" dirty="0">
              <a:solidFill>
                <a:srgbClr val="B87C4C"/>
              </a:solidFill>
              <a:latin typeface="Bahnschrift" panose="020B0502040204020203" pitchFamily="34" charset="0"/>
            </a:endParaRPr>
          </a:p>
        </p:txBody>
      </p:sp>
      <p:grpSp>
        <p:nvGrpSpPr>
          <p:cNvPr id="21" name="Group 20">
            <a:extLst>
              <a:ext uri="{FF2B5EF4-FFF2-40B4-BE49-F238E27FC236}">
                <a16:creationId xmlns:a16="http://schemas.microsoft.com/office/drawing/2014/main" id="{C1785309-444F-4BF8-9435-19E3C3AA1D29}"/>
              </a:ext>
            </a:extLst>
          </p:cNvPr>
          <p:cNvGrpSpPr/>
          <p:nvPr/>
        </p:nvGrpSpPr>
        <p:grpSpPr>
          <a:xfrm>
            <a:off x="4065494" y="1066800"/>
            <a:ext cx="3657600" cy="2743200"/>
            <a:chOff x="4065494" y="1066800"/>
            <a:chExt cx="3657600" cy="2743200"/>
          </a:xfrm>
        </p:grpSpPr>
        <p:sp>
          <p:nvSpPr>
            <p:cNvPr id="27" name="Rectangle 26">
              <a:extLst>
                <a:ext uri="{FF2B5EF4-FFF2-40B4-BE49-F238E27FC236}">
                  <a16:creationId xmlns:a16="http://schemas.microsoft.com/office/drawing/2014/main" id="{109E0AA5-66AF-4D55-891B-F7642EE2C2E5}"/>
                </a:ext>
              </a:extLst>
            </p:cNvPr>
            <p:cNvSpPr/>
            <p:nvPr/>
          </p:nvSpPr>
          <p:spPr>
            <a:xfrm>
              <a:off x="4065494" y="1066800"/>
              <a:ext cx="3657600" cy="274320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NG" dirty="0"/>
            </a:p>
          </p:txBody>
        </p:sp>
        <p:grpSp>
          <p:nvGrpSpPr>
            <p:cNvPr id="10" name="Group 9">
              <a:extLst>
                <a:ext uri="{FF2B5EF4-FFF2-40B4-BE49-F238E27FC236}">
                  <a16:creationId xmlns:a16="http://schemas.microsoft.com/office/drawing/2014/main" id="{DEEB5348-57A9-4D12-8E18-6B66653809E0}"/>
                </a:ext>
              </a:extLst>
            </p:cNvPr>
            <p:cNvGrpSpPr/>
            <p:nvPr/>
          </p:nvGrpSpPr>
          <p:grpSpPr>
            <a:xfrm>
              <a:off x="4719290" y="1232095"/>
              <a:ext cx="2350008" cy="640080"/>
              <a:chOff x="4920996" y="1232095"/>
              <a:chExt cx="2350008" cy="640080"/>
            </a:xfrm>
          </p:grpSpPr>
          <p:sp>
            <p:nvSpPr>
              <p:cNvPr id="40" name="Rectangle: Rounded Corners 39">
                <a:extLst>
                  <a:ext uri="{FF2B5EF4-FFF2-40B4-BE49-F238E27FC236}">
                    <a16:creationId xmlns:a16="http://schemas.microsoft.com/office/drawing/2014/main" id="{DC54289E-5C07-43D1-8FAF-83D087D22760}"/>
                  </a:ext>
                </a:extLst>
              </p:cNvPr>
              <p:cNvSpPr/>
              <p:nvPr/>
            </p:nvSpPr>
            <p:spPr>
              <a:xfrm>
                <a:off x="4920996" y="1232095"/>
                <a:ext cx="2350008" cy="640080"/>
              </a:xfrm>
              <a:prstGeom prst="roundRect">
                <a:avLst>
                  <a:gd name="adj" fmla="val 50000"/>
                </a:avLst>
              </a:prstGeom>
              <a:solidFill>
                <a:schemeClr val="bg1"/>
              </a:solidFill>
              <a:ln>
                <a:noFill/>
              </a:ln>
              <a:effectLst>
                <a:outerShdw blurRad="63500" sx="102000" sy="102000" algn="ctr" rotWithShape="0">
                  <a:prstClr val="black">
                    <a:alpha val="40000"/>
                  </a:prstClr>
                </a:outerShdw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NG" dirty="0">
                  <a:solidFill>
                    <a:srgbClr val="B87C4C"/>
                  </a:solidFill>
                </a:endParaRPr>
              </a:p>
            </p:txBody>
          </p:sp>
          <p:sp>
            <p:nvSpPr>
              <p:cNvPr id="48" name="TextBox 47">
                <a:extLst>
                  <a:ext uri="{FF2B5EF4-FFF2-40B4-BE49-F238E27FC236}">
                    <a16:creationId xmlns:a16="http://schemas.microsoft.com/office/drawing/2014/main" id="{74422DC3-0B32-4357-8F13-E126F27A3269}"/>
                  </a:ext>
                </a:extLst>
              </p:cNvPr>
              <p:cNvSpPr txBox="1"/>
              <p:nvPr/>
            </p:nvSpPr>
            <p:spPr>
              <a:xfrm>
                <a:off x="5404519" y="1318075"/>
                <a:ext cx="1395276" cy="46166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sz="2400" dirty="0">
                    <a:solidFill>
                      <a:srgbClr val="B87C4C"/>
                    </a:solidFill>
                    <a:latin typeface="Bahnschrift" panose="020B0502040204020203" pitchFamily="34" charset="0"/>
                  </a:rPr>
                  <a:t>Zamfara </a:t>
                </a:r>
                <a:endParaRPr lang="en-NG" sz="2400" dirty="0">
                  <a:solidFill>
                    <a:srgbClr val="B87C4C"/>
                  </a:solidFill>
                  <a:latin typeface="Bahnschrift" panose="020B0502040204020203" pitchFamily="34" charset="0"/>
                </a:endParaRPr>
              </a:p>
            </p:txBody>
          </p:sp>
        </p:grpSp>
        <p:sp>
          <p:nvSpPr>
            <p:cNvPr id="17" name="TextBox 16">
              <a:extLst>
                <a:ext uri="{FF2B5EF4-FFF2-40B4-BE49-F238E27FC236}">
                  <a16:creationId xmlns:a16="http://schemas.microsoft.com/office/drawing/2014/main" id="{2D392EE0-1A47-4EB1-83AF-CE16D782C639}"/>
                </a:ext>
              </a:extLst>
            </p:cNvPr>
            <p:cNvSpPr txBox="1"/>
            <p:nvPr/>
          </p:nvSpPr>
          <p:spPr>
            <a:xfrm>
              <a:off x="4415839" y="2134517"/>
              <a:ext cx="2944767" cy="132343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dirty="0">
                  <a:solidFill>
                    <a:srgbClr val="B87C4C"/>
                  </a:solidFill>
                  <a:latin typeface="Bahnschrift" panose="020B0502040204020203" pitchFamily="34" charset="0"/>
                </a:rPr>
                <a:t>Position: Second</a:t>
              </a:r>
            </a:p>
            <a:p>
              <a:r>
                <a:rPr lang="en-US" dirty="0">
                  <a:solidFill>
                    <a:srgbClr val="B87C4C"/>
                  </a:solidFill>
                  <a:latin typeface="Bahnschrift" panose="020B0502040204020203" pitchFamily="34" charset="0"/>
                </a:rPr>
                <a:t>Avg price: </a:t>
              </a:r>
              <a:r>
                <a:rPr lang="en-US" sz="2000" b="1" dirty="0">
                  <a:solidFill>
                    <a:srgbClr val="B87C4C"/>
                  </a:solidFill>
                  <a:latin typeface="Bahnschrift" panose="020B0502040204020203" pitchFamily="34" charset="0"/>
                </a:rPr>
                <a:t>N5,431.25</a:t>
              </a:r>
            </a:p>
            <a:p>
              <a:r>
                <a:rPr lang="en-US" dirty="0">
                  <a:solidFill>
                    <a:srgbClr val="B87C4C"/>
                  </a:solidFill>
                  <a:latin typeface="Bahnschrift" panose="020B0502040204020203" pitchFamily="34" charset="0"/>
                </a:rPr>
                <a:t>MoM: </a:t>
              </a:r>
              <a:r>
                <a:rPr lang="en-US" sz="2000" b="1" dirty="0">
                  <a:solidFill>
                    <a:srgbClr val="00B050"/>
                  </a:solidFill>
                  <a:latin typeface="Bahnschrift" panose="020B0502040204020203" pitchFamily="34" charset="0"/>
                </a:rPr>
                <a:t>-21.17%</a:t>
              </a:r>
              <a:endParaRPr lang="en-US" sz="2100" b="1" dirty="0">
                <a:solidFill>
                  <a:srgbClr val="00B050"/>
                </a:solidFill>
                <a:latin typeface="Bahnschrift" panose="020B0502040204020203" pitchFamily="34" charset="0"/>
              </a:endParaRPr>
            </a:p>
            <a:p>
              <a:r>
                <a:rPr lang="en-US" dirty="0">
                  <a:solidFill>
                    <a:srgbClr val="B87C4C"/>
                  </a:solidFill>
                  <a:latin typeface="Bahnschrift" panose="020B0502040204020203" pitchFamily="34" charset="0"/>
                </a:rPr>
                <a:t>YoY: </a:t>
              </a:r>
              <a:r>
                <a:rPr lang="en-US" sz="2000" b="1" dirty="0">
                  <a:solidFill>
                    <a:srgbClr val="DC0E0E"/>
                  </a:solidFill>
                  <a:latin typeface="Bahnschrift" panose="020B0502040204020203" pitchFamily="34" charset="0"/>
                </a:rPr>
                <a:t>15.67%</a:t>
              </a:r>
            </a:p>
          </p:txBody>
        </p:sp>
      </p:grpSp>
      <p:grpSp>
        <p:nvGrpSpPr>
          <p:cNvPr id="23" name="Group 22">
            <a:extLst>
              <a:ext uri="{FF2B5EF4-FFF2-40B4-BE49-F238E27FC236}">
                <a16:creationId xmlns:a16="http://schemas.microsoft.com/office/drawing/2014/main" id="{64B542E9-5A66-467F-8D9E-D4573028819E}"/>
              </a:ext>
            </a:extLst>
          </p:cNvPr>
          <p:cNvGrpSpPr/>
          <p:nvPr/>
        </p:nvGrpSpPr>
        <p:grpSpPr>
          <a:xfrm>
            <a:off x="7723094" y="1066800"/>
            <a:ext cx="3657600" cy="2743200"/>
            <a:chOff x="7723094" y="1066800"/>
            <a:chExt cx="3657600" cy="2743200"/>
          </a:xfrm>
        </p:grpSpPr>
        <p:sp>
          <p:nvSpPr>
            <p:cNvPr id="38" name="Rectangle 37">
              <a:extLst>
                <a:ext uri="{FF2B5EF4-FFF2-40B4-BE49-F238E27FC236}">
                  <a16:creationId xmlns:a16="http://schemas.microsoft.com/office/drawing/2014/main" id="{C678FDC1-C1D2-4786-8871-A2F5F678178D}"/>
                </a:ext>
              </a:extLst>
            </p:cNvPr>
            <p:cNvSpPr/>
            <p:nvPr/>
          </p:nvSpPr>
          <p:spPr>
            <a:xfrm>
              <a:off x="7723094" y="1066800"/>
              <a:ext cx="3657600" cy="2743200"/>
            </a:xfrm>
            <a:prstGeom prst="rect">
              <a:avLst/>
            </a:prstGeom>
            <a:solidFill>
              <a:srgbClr val="B87C4C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NG" dirty="0"/>
            </a:p>
          </p:txBody>
        </p:sp>
        <p:grpSp>
          <p:nvGrpSpPr>
            <p:cNvPr id="11" name="Group 10">
              <a:extLst>
                <a:ext uri="{FF2B5EF4-FFF2-40B4-BE49-F238E27FC236}">
                  <a16:creationId xmlns:a16="http://schemas.microsoft.com/office/drawing/2014/main" id="{60DD081C-B15E-420C-9628-414C975A8BE3}"/>
                </a:ext>
              </a:extLst>
            </p:cNvPr>
            <p:cNvGrpSpPr/>
            <p:nvPr/>
          </p:nvGrpSpPr>
          <p:grpSpPr>
            <a:xfrm>
              <a:off x="8376890" y="1236784"/>
              <a:ext cx="2350008" cy="640080"/>
              <a:chOff x="8584247" y="1236784"/>
              <a:chExt cx="2350008" cy="640080"/>
            </a:xfrm>
          </p:grpSpPr>
          <p:sp>
            <p:nvSpPr>
              <p:cNvPr id="45" name="Rectangle: Rounded Corners 44">
                <a:extLst>
                  <a:ext uri="{FF2B5EF4-FFF2-40B4-BE49-F238E27FC236}">
                    <a16:creationId xmlns:a16="http://schemas.microsoft.com/office/drawing/2014/main" id="{BEE8E0B2-B821-45D9-94A7-4F665DF332EE}"/>
                  </a:ext>
                </a:extLst>
              </p:cNvPr>
              <p:cNvSpPr/>
              <p:nvPr/>
            </p:nvSpPr>
            <p:spPr>
              <a:xfrm>
                <a:off x="8584247" y="1236784"/>
                <a:ext cx="2350008" cy="640080"/>
              </a:xfrm>
              <a:prstGeom prst="roundRect">
                <a:avLst>
                  <a:gd name="adj" fmla="val 50000"/>
                </a:avLst>
              </a:prstGeom>
              <a:solidFill>
                <a:srgbClr val="B87C4C"/>
              </a:solidFill>
              <a:ln>
                <a:noFill/>
              </a:ln>
              <a:effectLst>
                <a:outerShdw blurRad="63500" sx="102000" sy="102000" algn="ctr" rotWithShape="0">
                  <a:prstClr val="black">
                    <a:alpha val="40000"/>
                  </a:prstClr>
                </a:outerShdw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NG" dirty="0">
                  <a:solidFill>
                    <a:srgbClr val="B87C4C"/>
                  </a:solidFill>
                </a:endParaRPr>
              </a:p>
            </p:txBody>
          </p:sp>
          <p:sp>
            <p:nvSpPr>
              <p:cNvPr id="49" name="TextBox 48">
                <a:extLst>
                  <a:ext uri="{FF2B5EF4-FFF2-40B4-BE49-F238E27FC236}">
                    <a16:creationId xmlns:a16="http://schemas.microsoft.com/office/drawing/2014/main" id="{D6A85F0F-AE49-4A27-A970-E77BABCE1346}"/>
                  </a:ext>
                </a:extLst>
              </p:cNvPr>
              <p:cNvSpPr txBox="1"/>
              <p:nvPr/>
            </p:nvSpPr>
            <p:spPr>
              <a:xfrm>
                <a:off x="9301974" y="1318075"/>
                <a:ext cx="914552" cy="46166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sz="2400" dirty="0">
                    <a:solidFill>
                      <a:schemeClr val="bg1"/>
                    </a:solidFill>
                    <a:latin typeface="Bahnschrift" panose="020B0502040204020203" pitchFamily="34" charset="0"/>
                  </a:rPr>
                  <a:t>Kogi </a:t>
                </a:r>
                <a:endParaRPr lang="en-NG" sz="2400" dirty="0">
                  <a:solidFill>
                    <a:schemeClr val="bg1"/>
                  </a:solidFill>
                  <a:latin typeface="Bahnschrift" panose="020B0502040204020203" pitchFamily="34" charset="0"/>
                </a:endParaRPr>
              </a:p>
            </p:txBody>
          </p:sp>
        </p:grpSp>
        <p:sp>
          <p:nvSpPr>
            <p:cNvPr id="54" name="TextBox 53">
              <a:extLst>
                <a:ext uri="{FF2B5EF4-FFF2-40B4-BE49-F238E27FC236}">
                  <a16:creationId xmlns:a16="http://schemas.microsoft.com/office/drawing/2014/main" id="{47CC380E-57B6-4596-865C-01C581A9B8AD}"/>
                </a:ext>
              </a:extLst>
            </p:cNvPr>
            <p:cNvSpPr txBox="1"/>
            <p:nvPr/>
          </p:nvSpPr>
          <p:spPr>
            <a:xfrm>
              <a:off x="8085582" y="2179368"/>
              <a:ext cx="2944767" cy="129266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dirty="0">
                  <a:solidFill>
                    <a:schemeClr val="bg1"/>
                  </a:solidFill>
                  <a:latin typeface="Bahnschrift" panose="020B0502040204020203" pitchFamily="34" charset="0"/>
                </a:rPr>
                <a:t>Position: Third</a:t>
              </a:r>
            </a:p>
            <a:p>
              <a:r>
                <a:rPr lang="en-US" dirty="0">
                  <a:solidFill>
                    <a:schemeClr val="bg1"/>
                  </a:solidFill>
                  <a:latin typeface="Bahnschrift" panose="020B0502040204020203" pitchFamily="34" charset="0"/>
                </a:rPr>
                <a:t>Avg price: </a:t>
              </a:r>
              <a:r>
                <a:rPr lang="en-US" sz="2000" b="1" dirty="0">
                  <a:solidFill>
                    <a:schemeClr val="bg1"/>
                  </a:solidFill>
                  <a:latin typeface="Bahnschrift" panose="020B0502040204020203" pitchFamily="34" charset="0"/>
                </a:rPr>
                <a:t>N5,560.63</a:t>
              </a:r>
            </a:p>
            <a:p>
              <a:r>
                <a:rPr lang="en-US" dirty="0">
                  <a:solidFill>
                    <a:schemeClr val="bg1"/>
                  </a:solidFill>
                  <a:latin typeface="Bahnschrift" panose="020B0502040204020203" pitchFamily="34" charset="0"/>
                </a:rPr>
                <a:t>MoM: </a:t>
              </a:r>
              <a:r>
                <a:rPr lang="en-US" sz="2000" b="1" dirty="0">
                  <a:solidFill>
                    <a:srgbClr val="00B050"/>
                  </a:solidFill>
                  <a:latin typeface="Bahnschrift" panose="020B0502040204020203" pitchFamily="34" charset="0"/>
                </a:rPr>
                <a:t>-23.18%</a:t>
              </a:r>
            </a:p>
            <a:p>
              <a:r>
                <a:rPr lang="en-US" dirty="0">
                  <a:solidFill>
                    <a:schemeClr val="bg1"/>
                  </a:solidFill>
                  <a:latin typeface="Bahnschrift" panose="020B0502040204020203" pitchFamily="34" charset="0"/>
                </a:rPr>
                <a:t>YoY: </a:t>
              </a:r>
              <a:r>
                <a:rPr lang="en-US" sz="2000" b="1" dirty="0">
                  <a:solidFill>
                    <a:srgbClr val="DC0E0E"/>
                  </a:solidFill>
                  <a:latin typeface="Bahnschrift" panose="020B0502040204020203" pitchFamily="34" charset="0"/>
                </a:rPr>
                <a:t>20.32%</a:t>
              </a:r>
              <a:endParaRPr lang="en-US" b="1" dirty="0">
                <a:solidFill>
                  <a:srgbClr val="DC0E0E"/>
                </a:solidFill>
                <a:latin typeface="Bahnschrift" panose="020B0502040204020203" pitchFamily="34" charset="0"/>
              </a:endParaRPr>
            </a:p>
          </p:txBody>
        </p:sp>
      </p:grpSp>
      <p:grpSp>
        <p:nvGrpSpPr>
          <p:cNvPr id="58" name="Group 57">
            <a:extLst>
              <a:ext uri="{FF2B5EF4-FFF2-40B4-BE49-F238E27FC236}">
                <a16:creationId xmlns:a16="http://schemas.microsoft.com/office/drawing/2014/main" id="{7DE11D98-1C14-4BFE-8258-ED98A5FEB293}"/>
              </a:ext>
            </a:extLst>
          </p:cNvPr>
          <p:cNvGrpSpPr/>
          <p:nvPr/>
        </p:nvGrpSpPr>
        <p:grpSpPr>
          <a:xfrm>
            <a:off x="4065494" y="3810000"/>
            <a:ext cx="3657600" cy="2743200"/>
            <a:chOff x="4065494" y="3810000"/>
            <a:chExt cx="3657600" cy="2743200"/>
          </a:xfrm>
        </p:grpSpPr>
        <p:sp>
          <p:nvSpPr>
            <p:cNvPr id="28" name="Rectangle 27">
              <a:extLst>
                <a:ext uri="{FF2B5EF4-FFF2-40B4-BE49-F238E27FC236}">
                  <a16:creationId xmlns:a16="http://schemas.microsoft.com/office/drawing/2014/main" id="{C5147402-04C6-4E17-812C-8D72C671DC07}"/>
                </a:ext>
              </a:extLst>
            </p:cNvPr>
            <p:cNvSpPr/>
            <p:nvPr/>
          </p:nvSpPr>
          <p:spPr>
            <a:xfrm>
              <a:off x="4065494" y="3810000"/>
              <a:ext cx="3657600" cy="2743200"/>
            </a:xfrm>
            <a:prstGeom prst="rect">
              <a:avLst/>
            </a:prstGeom>
            <a:solidFill>
              <a:srgbClr val="B87C4C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NG" dirty="0"/>
            </a:p>
          </p:txBody>
        </p:sp>
        <p:grpSp>
          <p:nvGrpSpPr>
            <p:cNvPr id="15" name="Group 14">
              <a:extLst>
                <a:ext uri="{FF2B5EF4-FFF2-40B4-BE49-F238E27FC236}">
                  <a16:creationId xmlns:a16="http://schemas.microsoft.com/office/drawing/2014/main" id="{D989CEDA-942C-4AD8-B6E2-84733852FC5D}"/>
                </a:ext>
              </a:extLst>
            </p:cNvPr>
            <p:cNvGrpSpPr/>
            <p:nvPr/>
          </p:nvGrpSpPr>
          <p:grpSpPr>
            <a:xfrm>
              <a:off x="4719290" y="4077416"/>
              <a:ext cx="2350008" cy="640080"/>
              <a:chOff x="4942510" y="4077416"/>
              <a:chExt cx="2350008" cy="640080"/>
            </a:xfrm>
          </p:grpSpPr>
          <p:sp>
            <p:nvSpPr>
              <p:cNvPr id="46" name="Rectangle: Rounded Corners 45">
                <a:extLst>
                  <a:ext uri="{FF2B5EF4-FFF2-40B4-BE49-F238E27FC236}">
                    <a16:creationId xmlns:a16="http://schemas.microsoft.com/office/drawing/2014/main" id="{FE565482-1DA1-4850-901C-50DF015C87E9}"/>
                  </a:ext>
                </a:extLst>
              </p:cNvPr>
              <p:cNvSpPr/>
              <p:nvPr/>
            </p:nvSpPr>
            <p:spPr>
              <a:xfrm>
                <a:off x="4942510" y="4077416"/>
                <a:ext cx="2350008" cy="640080"/>
              </a:xfrm>
              <a:prstGeom prst="roundRect">
                <a:avLst>
                  <a:gd name="adj" fmla="val 50000"/>
                </a:avLst>
              </a:prstGeom>
              <a:solidFill>
                <a:srgbClr val="B87C4C"/>
              </a:solidFill>
              <a:ln>
                <a:noFill/>
              </a:ln>
              <a:effectLst>
                <a:outerShdw blurRad="63500" sx="102000" sy="102000" algn="ctr" rotWithShape="0">
                  <a:prstClr val="black">
                    <a:alpha val="40000"/>
                  </a:prstClr>
                </a:outerShdw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NG" dirty="0">
                  <a:solidFill>
                    <a:srgbClr val="B87C4C"/>
                  </a:solidFill>
                </a:endParaRPr>
              </a:p>
            </p:txBody>
          </p:sp>
          <p:sp>
            <p:nvSpPr>
              <p:cNvPr id="52" name="TextBox 51">
                <a:extLst>
                  <a:ext uri="{FF2B5EF4-FFF2-40B4-BE49-F238E27FC236}">
                    <a16:creationId xmlns:a16="http://schemas.microsoft.com/office/drawing/2014/main" id="{DC895539-CAD0-447C-8590-177F8473B919}"/>
                  </a:ext>
                </a:extLst>
              </p:cNvPr>
              <p:cNvSpPr txBox="1"/>
              <p:nvPr/>
            </p:nvSpPr>
            <p:spPr>
              <a:xfrm>
                <a:off x="5750109" y="4161934"/>
                <a:ext cx="747123" cy="46166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sz="2400" dirty="0">
                    <a:solidFill>
                      <a:schemeClr val="bg1"/>
                    </a:solidFill>
                    <a:latin typeface="Bahnschrift" panose="020B0502040204020203" pitchFamily="34" charset="0"/>
                  </a:rPr>
                  <a:t>Edo </a:t>
                </a:r>
                <a:endParaRPr lang="en-NG" sz="2400" dirty="0">
                  <a:solidFill>
                    <a:schemeClr val="bg1"/>
                  </a:solidFill>
                  <a:latin typeface="Bahnschrift" panose="020B0502040204020203" pitchFamily="34" charset="0"/>
                </a:endParaRPr>
              </a:p>
            </p:txBody>
          </p:sp>
        </p:grpSp>
        <p:sp>
          <p:nvSpPr>
            <p:cNvPr id="55" name="TextBox 54">
              <a:extLst>
                <a:ext uri="{FF2B5EF4-FFF2-40B4-BE49-F238E27FC236}">
                  <a16:creationId xmlns:a16="http://schemas.microsoft.com/office/drawing/2014/main" id="{DDE26EF1-E980-4BCF-B0D3-2C476536BCA2}"/>
                </a:ext>
              </a:extLst>
            </p:cNvPr>
            <p:cNvSpPr txBox="1"/>
            <p:nvPr/>
          </p:nvSpPr>
          <p:spPr>
            <a:xfrm>
              <a:off x="4415839" y="5024689"/>
              <a:ext cx="2944767" cy="129266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dirty="0">
                  <a:solidFill>
                    <a:schemeClr val="bg1"/>
                  </a:solidFill>
                  <a:latin typeface="Bahnschrift" panose="020B0502040204020203" pitchFamily="34" charset="0"/>
                </a:rPr>
                <a:t>Position: Fourth</a:t>
              </a:r>
            </a:p>
            <a:p>
              <a:r>
                <a:rPr lang="en-US" dirty="0">
                  <a:solidFill>
                    <a:schemeClr val="bg1"/>
                  </a:solidFill>
                  <a:latin typeface="Bahnschrift" panose="020B0502040204020203" pitchFamily="34" charset="0"/>
                </a:rPr>
                <a:t>Avg price: </a:t>
              </a:r>
              <a:r>
                <a:rPr lang="en-US" sz="2000" b="1" dirty="0">
                  <a:solidFill>
                    <a:schemeClr val="bg1"/>
                  </a:solidFill>
                  <a:latin typeface="Bahnschrift" panose="020B0502040204020203" pitchFamily="34" charset="0"/>
                </a:rPr>
                <a:t>N5,572.22</a:t>
              </a:r>
              <a:endParaRPr lang="en-US" b="1" dirty="0">
                <a:solidFill>
                  <a:schemeClr val="bg1"/>
                </a:solidFill>
                <a:latin typeface="Bahnschrift" panose="020B0502040204020203" pitchFamily="34" charset="0"/>
              </a:endParaRPr>
            </a:p>
            <a:p>
              <a:r>
                <a:rPr lang="en-US" dirty="0">
                  <a:solidFill>
                    <a:schemeClr val="bg1"/>
                  </a:solidFill>
                  <a:latin typeface="Bahnschrift" panose="020B0502040204020203" pitchFamily="34" charset="0"/>
                </a:rPr>
                <a:t>MoM: </a:t>
              </a:r>
              <a:r>
                <a:rPr lang="en-US" sz="2000" b="1" dirty="0">
                  <a:solidFill>
                    <a:srgbClr val="00B050"/>
                  </a:solidFill>
                  <a:latin typeface="Bahnschrift" panose="020B0502040204020203" pitchFamily="34" charset="0"/>
                </a:rPr>
                <a:t>-28.10%</a:t>
              </a:r>
            </a:p>
            <a:p>
              <a:r>
                <a:rPr lang="en-US" dirty="0">
                  <a:solidFill>
                    <a:schemeClr val="bg1"/>
                  </a:solidFill>
                  <a:latin typeface="Bahnschrift" panose="020B0502040204020203" pitchFamily="34" charset="0"/>
                </a:rPr>
                <a:t>YoY: </a:t>
              </a:r>
              <a:r>
                <a:rPr lang="en-US" sz="2000" b="1" dirty="0">
                  <a:solidFill>
                    <a:srgbClr val="DC0E0E"/>
                  </a:solidFill>
                  <a:latin typeface="Bahnschrift" panose="020B0502040204020203" pitchFamily="34" charset="0"/>
                </a:rPr>
                <a:t>56.70%</a:t>
              </a:r>
              <a:endParaRPr lang="en-US" b="1" dirty="0">
                <a:solidFill>
                  <a:srgbClr val="DC0E0E"/>
                </a:solidFill>
                <a:latin typeface="Bahnschrift" panose="020B0502040204020203" pitchFamily="34" charset="0"/>
              </a:endParaRPr>
            </a:p>
          </p:txBody>
        </p:sp>
      </p:grpSp>
      <p:grpSp>
        <p:nvGrpSpPr>
          <p:cNvPr id="57" name="Group 56">
            <a:extLst>
              <a:ext uri="{FF2B5EF4-FFF2-40B4-BE49-F238E27FC236}">
                <a16:creationId xmlns:a16="http://schemas.microsoft.com/office/drawing/2014/main" id="{FF5A374C-5ADE-4003-A2F6-436B103C764C}"/>
              </a:ext>
            </a:extLst>
          </p:cNvPr>
          <p:cNvGrpSpPr/>
          <p:nvPr/>
        </p:nvGrpSpPr>
        <p:grpSpPr>
          <a:xfrm>
            <a:off x="7723094" y="3810000"/>
            <a:ext cx="3657600" cy="2743200"/>
            <a:chOff x="7723094" y="3810000"/>
            <a:chExt cx="3657600" cy="2743200"/>
          </a:xfrm>
        </p:grpSpPr>
        <p:sp>
          <p:nvSpPr>
            <p:cNvPr id="39" name="Rectangle 38">
              <a:extLst>
                <a:ext uri="{FF2B5EF4-FFF2-40B4-BE49-F238E27FC236}">
                  <a16:creationId xmlns:a16="http://schemas.microsoft.com/office/drawing/2014/main" id="{5CFC9D68-8378-4962-A25D-F4A4420A4885}"/>
                </a:ext>
              </a:extLst>
            </p:cNvPr>
            <p:cNvSpPr/>
            <p:nvPr/>
          </p:nvSpPr>
          <p:spPr>
            <a:xfrm>
              <a:off x="7723094" y="3810000"/>
              <a:ext cx="3657600" cy="274320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NG" dirty="0"/>
            </a:p>
          </p:txBody>
        </p:sp>
        <p:grpSp>
          <p:nvGrpSpPr>
            <p:cNvPr id="13" name="Group 12">
              <a:extLst>
                <a:ext uri="{FF2B5EF4-FFF2-40B4-BE49-F238E27FC236}">
                  <a16:creationId xmlns:a16="http://schemas.microsoft.com/office/drawing/2014/main" id="{761871C6-C338-45F7-8C46-6D23A245360F}"/>
                </a:ext>
              </a:extLst>
            </p:cNvPr>
            <p:cNvGrpSpPr/>
            <p:nvPr/>
          </p:nvGrpSpPr>
          <p:grpSpPr>
            <a:xfrm>
              <a:off x="8376890" y="4077416"/>
              <a:ext cx="2350008" cy="640080"/>
              <a:chOff x="8584247" y="4077416"/>
              <a:chExt cx="2350008" cy="640080"/>
            </a:xfrm>
          </p:grpSpPr>
          <p:sp>
            <p:nvSpPr>
              <p:cNvPr id="47" name="Rectangle: Rounded Corners 46">
                <a:extLst>
                  <a:ext uri="{FF2B5EF4-FFF2-40B4-BE49-F238E27FC236}">
                    <a16:creationId xmlns:a16="http://schemas.microsoft.com/office/drawing/2014/main" id="{299B76CA-2DC6-429D-BDA9-C19970339B2E}"/>
                  </a:ext>
                </a:extLst>
              </p:cNvPr>
              <p:cNvSpPr/>
              <p:nvPr/>
            </p:nvSpPr>
            <p:spPr>
              <a:xfrm>
                <a:off x="8584247" y="4077416"/>
                <a:ext cx="2350008" cy="640080"/>
              </a:xfrm>
              <a:prstGeom prst="roundRect">
                <a:avLst>
                  <a:gd name="adj" fmla="val 50000"/>
                </a:avLst>
              </a:prstGeom>
              <a:solidFill>
                <a:schemeClr val="bg1"/>
              </a:solidFill>
              <a:ln>
                <a:noFill/>
              </a:ln>
              <a:effectLst>
                <a:outerShdw blurRad="63500" sx="102000" sy="102000" algn="ctr" rotWithShape="0">
                  <a:prstClr val="black">
                    <a:alpha val="40000"/>
                  </a:prstClr>
                </a:outerShdw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NG" dirty="0">
                  <a:solidFill>
                    <a:srgbClr val="B87C4C"/>
                  </a:solidFill>
                </a:endParaRPr>
              </a:p>
            </p:txBody>
          </p:sp>
          <p:sp>
            <p:nvSpPr>
              <p:cNvPr id="51" name="TextBox 50">
                <a:extLst>
                  <a:ext uri="{FF2B5EF4-FFF2-40B4-BE49-F238E27FC236}">
                    <a16:creationId xmlns:a16="http://schemas.microsoft.com/office/drawing/2014/main" id="{83C35B48-C11C-4179-BF04-0E5E0EBD57C5}"/>
                  </a:ext>
                </a:extLst>
              </p:cNvPr>
              <p:cNvSpPr txBox="1"/>
              <p:nvPr/>
            </p:nvSpPr>
            <p:spPr>
              <a:xfrm>
                <a:off x="9069894" y="4161934"/>
                <a:ext cx="1378714" cy="46166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sz="2400" dirty="0">
                    <a:solidFill>
                      <a:srgbClr val="B87C4C"/>
                    </a:solidFill>
                    <a:latin typeface="Bahnschrift" panose="020B0502040204020203" pitchFamily="34" charset="0"/>
                  </a:rPr>
                  <a:t>Bayelsa </a:t>
                </a:r>
                <a:endParaRPr lang="en-NG" sz="2400" dirty="0">
                  <a:solidFill>
                    <a:srgbClr val="B87C4C"/>
                  </a:solidFill>
                  <a:latin typeface="Bahnschrift" panose="020B0502040204020203" pitchFamily="34" charset="0"/>
                </a:endParaRPr>
              </a:p>
            </p:txBody>
          </p:sp>
        </p:grpSp>
        <p:sp>
          <p:nvSpPr>
            <p:cNvPr id="56" name="TextBox 55">
              <a:extLst>
                <a:ext uri="{FF2B5EF4-FFF2-40B4-BE49-F238E27FC236}">
                  <a16:creationId xmlns:a16="http://schemas.microsoft.com/office/drawing/2014/main" id="{809BACC3-CF72-4E61-97C4-0D3B94EF1C9D}"/>
                </a:ext>
              </a:extLst>
            </p:cNvPr>
            <p:cNvSpPr txBox="1"/>
            <p:nvPr/>
          </p:nvSpPr>
          <p:spPr>
            <a:xfrm>
              <a:off x="8079510" y="5024689"/>
              <a:ext cx="2944767" cy="129266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dirty="0">
                  <a:solidFill>
                    <a:srgbClr val="B87C4C"/>
                  </a:solidFill>
                  <a:latin typeface="Bahnschrift" panose="020B0502040204020203" pitchFamily="34" charset="0"/>
                </a:rPr>
                <a:t>Position: Fifth</a:t>
              </a:r>
            </a:p>
            <a:p>
              <a:r>
                <a:rPr lang="en-US" dirty="0">
                  <a:solidFill>
                    <a:srgbClr val="B87C4C"/>
                  </a:solidFill>
                  <a:latin typeface="Bahnschrift" panose="020B0502040204020203" pitchFamily="34" charset="0"/>
                </a:rPr>
                <a:t>Avg price: </a:t>
              </a:r>
              <a:r>
                <a:rPr lang="en-US" sz="2000" b="1" dirty="0">
                  <a:solidFill>
                    <a:srgbClr val="B87C4C"/>
                  </a:solidFill>
                  <a:latin typeface="Bahnschrift" panose="020B0502040204020203" pitchFamily="34" charset="0"/>
                </a:rPr>
                <a:t>N5,572.22</a:t>
              </a:r>
            </a:p>
            <a:p>
              <a:r>
                <a:rPr lang="en-US" dirty="0">
                  <a:solidFill>
                    <a:srgbClr val="B87C4C"/>
                  </a:solidFill>
                  <a:latin typeface="Bahnschrift" panose="020B0502040204020203" pitchFamily="34" charset="0"/>
                </a:rPr>
                <a:t>MoM: </a:t>
              </a:r>
              <a:r>
                <a:rPr lang="en-US" sz="2000" b="1" dirty="0">
                  <a:solidFill>
                    <a:srgbClr val="00B050"/>
                  </a:solidFill>
                  <a:latin typeface="Bahnschrift" panose="020B0502040204020203" pitchFamily="34" charset="0"/>
                </a:rPr>
                <a:t>-14.60%</a:t>
              </a:r>
            </a:p>
            <a:p>
              <a:r>
                <a:rPr lang="en-US" dirty="0">
                  <a:solidFill>
                    <a:srgbClr val="B87C4C"/>
                  </a:solidFill>
                  <a:latin typeface="Bahnschrift" panose="020B0502040204020203" pitchFamily="34" charset="0"/>
                </a:rPr>
                <a:t>YoY: </a:t>
              </a:r>
              <a:r>
                <a:rPr lang="en-US" sz="2000" b="1" dirty="0">
                  <a:solidFill>
                    <a:srgbClr val="DC0E0E"/>
                  </a:solidFill>
                  <a:latin typeface="Bahnschrift" panose="020B0502040204020203" pitchFamily="34" charset="0"/>
                </a:rPr>
                <a:t>20.41%</a:t>
              </a:r>
              <a:endParaRPr lang="en-US" b="1" dirty="0">
                <a:solidFill>
                  <a:srgbClr val="DC0E0E"/>
                </a:solidFill>
                <a:latin typeface="Bahnschrift" panose="020B0502040204020203" pitchFamily="34" charset="0"/>
              </a:endParaRPr>
            </a:p>
          </p:txBody>
        </p:sp>
      </p:grpSp>
      <p:grpSp>
        <p:nvGrpSpPr>
          <p:cNvPr id="20" name="Group 19">
            <a:extLst>
              <a:ext uri="{FF2B5EF4-FFF2-40B4-BE49-F238E27FC236}">
                <a16:creationId xmlns:a16="http://schemas.microsoft.com/office/drawing/2014/main" id="{468EAA90-F60A-4F49-859D-10BD6EE8205E}"/>
              </a:ext>
            </a:extLst>
          </p:cNvPr>
          <p:cNvGrpSpPr/>
          <p:nvPr/>
        </p:nvGrpSpPr>
        <p:grpSpPr>
          <a:xfrm>
            <a:off x="407894" y="1066800"/>
            <a:ext cx="3657600" cy="5486400"/>
            <a:chOff x="407894" y="1066800"/>
            <a:chExt cx="3657600" cy="5486400"/>
          </a:xfrm>
        </p:grpSpPr>
        <p:sp>
          <p:nvSpPr>
            <p:cNvPr id="2" name="Rectangle 1">
              <a:extLst>
                <a:ext uri="{FF2B5EF4-FFF2-40B4-BE49-F238E27FC236}">
                  <a16:creationId xmlns:a16="http://schemas.microsoft.com/office/drawing/2014/main" id="{12E001D9-6122-4BF2-A593-C840D15C3B54}"/>
                </a:ext>
              </a:extLst>
            </p:cNvPr>
            <p:cNvSpPr/>
            <p:nvPr/>
          </p:nvSpPr>
          <p:spPr>
            <a:xfrm>
              <a:off x="407894" y="1066800"/>
              <a:ext cx="3657600" cy="5486400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NG" dirty="0"/>
            </a:p>
          </p:txBody>
        </p:sp>
        <p:grpSp>
          <p:nvGrpSpPr>
            <p:cNvPr id="9" name="Group 8">
              <a:extLst>
                <a:ext uri="{FF2B5EF4-FFF2-40B4-BE49-F238E27FC236}">
                  <a16:creationId xmlns:a16="http://schemas.microsoft.com/office/drawing/2014/main" id="{FC3CA3C2-E7C8-4CFE-AB62-F772D164AC4B}"/>
                </a:ext>
              </a:extLst>
            </p:cNvPr>
            <p:cNvGrpSpPr/>
            <p:nvPr/>
          </p:nvGrpSpPr>
          <p:grpSpPr>
            <a:xfrm>
              <a:off x="1061690" y="1232095"/>
              <a:ext cx="2350008" cy="640080"/>
              <a:chOff x="1061690" y="1232095"/>
              <a:chExt cx="2350008" cy="640080"/>
            </a:xfrm>
          </p:grpSpPr>
          <p:sp>
            <p:nvSpPr>
              <p:cNvPr id="44" name="Rectangle: Rounded Corners 43">
                <a:extLst>
                  <a:ext uri="{FF2B5EF4-FFF2-40B4-BE49-F238E27FC236}">
                    <a16:creationId xmlns:a16="http://schemas.microsoft.com/office/drawing/2014/main" id="{7F05D986-AAE3-43FD-A5DC-4B4D08550DE5}"/>
                  </a:ext>
                </a:extLst>
              </p:cNvPr>
              <p:cNvSpPr/>
              <p:nvPr/>
            </p:nvSpPr>
            <p:spPr>
              <a:xfrm>
                <a:off x="1061690" y="1232095"/>
                <a:ext cx="2350008" cy="640080"/>
              </a:xfrm>
              <a:prstGeom prst="roundRect">
                <a:avLst>
                  <a:gd name="adj" fmla="val 50000"/>
                </a:avLst>
              </a:prstGeom>
              <a:solidFill>
                <a:schemeClr val="bg1">
                  <a:lumMod val="95000"/>
                </a:schemeClr>
              </a:solidFill>
              <a:ln>
                <a:noFill/>
              </a:ln>
              <a:effectLst>
                <a:outerShdw blurRad="63500" sx="102000" sy="102000" algn="ctr" rotWithShape="0">
                  <a:prstClr val="black">
                    <a:alpha val="40000"/>
                  </a:prstClr>
                </a:outerShdw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NG" dirty="0"/>
              </a:p>
            </p:txBody>
          </p:sp>
          <p:sp>
            <p:nvSpPr>
              <p:cNvPr id="3" name="TextBox 2">
                <a:extLst>
                  <a:ext uri="{FF2B5EF4-FFF2-40B4-BE49-F238E27FC236}">
                    <a16:creationId xmlns:a16="http://schemas.microsoft.com/office/drawing/2014/main" id="{75B9E45A-5343-477F-858E-26A9210E7267}"/>
                  </a:ext>
                </a:extLst>
              </p:cNvPr>
              <p:cNvSpPr txBox="1"/>
              <p:nvPr/>
            </p:nvSpPr>
            <p:spPr>
              <a:xfrm>
                <a:off x="1710603" y="1321303"/>
                <a:ext cx="1052182" cy="46166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sz="2400" dirty="0">
                    <a:solidFill>
                      <a:srgbClr val="B87C4C"/>
                    </a:solidFill>
                    <a:latin typeface="Bahnschrift" panose="020B0502040204020203" pitchFamily="34" charset="0"/>
                  </a:rPr>
                  <a:t>Delta </a:t>
                </a:r>
                <a:endParaRPr lang="en-NG" sz="2400" dirty="0">
                  <a:solidFill>
                    <a:srgbClr val="B87C4C"/>
                  </a:solidFill>
                  <a:latin typeface="Bahnschrift" panose="020B0502040204020203" pitchFamily="34" charset="0"/>
                </a:endParaRPr>
              </a:p>
            </p:txBody>
          </p:sp>
        </p:grpSp>
        <p:sp>
          <p:nvSpPr>
            <p:cNvPr id="18" name="TextBox 17">
              <a:extLst>
                <a:ext uri="{FF2B5EF4-FFF2-40B4-BE49-F238E27FC236}">
                  <a16:creationId xmlns:a16="http://schemas.microsoft.com/office/drawing/2014/main" id="{AA25EBA4-E2A9-4ADC-B525-2B7F49A97113}"/>
                </a:ext>
              </a:extLst>
            </p:cNvPr>
            <p:cNvSpPr txBox="1"/>
            <p:nvPr/>
          </p:nvSpPr>
          <p:spPr>
            <a:xfrm>
              <a:off x="785931" y="1899776"/>
              <a:ext cx="3041824" cy="458587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dirty="0">
                  <a:solidFill>
                    <a:srgbClr val="B87C4C"/>
                  </a:solidFill>
                  <a:latin typeface="Bahnschrift" panose="020B0502040204020203" pitchFamily="34" charset="0"/>
                </a:rPr>
                <a:t>The average price of cooking gas in Delta is </a:t>
              </a:r>
              <a:r>
                <a:rPr lang="en-US" sz="2000" b="1" dirty="0">
                  <a:solidFill>
                    <a:srgbClr val="B87C4C"/>
                  </a:solidFill>
                  <a:latin typeface="Bahnschrift" panose="020B0502040204020203" pitchFamily="34" charset="0"/>
                </a:rPr>
                <a:t>N5,392.86</a:t>
              </a:r>
              <a:r>
                <a:rPr lang="en-US" dirty="0">
                  <a:solidFill>
                    <a:srgbClr val="B87C4C"/>
                  </a:solidFill>
                  <a:latin typeface="Bahnschrift" panose="020B0502040204020203" pitchFamily="34" charset="0"/>
                </a:rPr>
                <a:t> making it the state with the lowest average price of cooking gas in the entire country.</a:t>
              </a:r>
            </a:p>
            <a:p>
              <a:endParaRPr lang="en-US" dirty="0">
                <a:solidFill>
                  <a:srgbClr val="B87C4C"/>
                </a:solidFill>
                <a:latin typeface="Bahnschrift" panose="020B0502040204020203" pitchFamily="34" charset="0"/>
              </a:endParaRPr>
            </a:p>
            <a:p>
              <a:r>
                <a:rPr lang="en-US" dirty="0">
                  <a:solidFill>
                    <a:srgbClr val="B87C4C"/>
                  </a:solidFill>
                  <a:latin typeface="Bahnschrift" panose="020B0502040204020203" pitchFamily="34" charset="0"/>
                </a:rPr>
                <a:t>It recorded a </a:t>
              </a:r>
              <a:r>
                <a:rPr lang="en-NG" sz="2000" b="1" i="0" u="none" strike="noStrike" dirty="0">
                  <a:solidFill>
                    <a:srgbClr val="00B050"/>
                  </a:solidFill>
                  <a:effectLst/>
                  <a:latin typeface="Bahnschrift" panose="020B0502040204020203" pitchFamily="34" charset="0"/>
                </a:rPr>
                <a:t>-</a:t>
              </a:r>
              <a:r>
                <a:rPr lang="en-US" sz="2000" b="1" i="0" u="none" strike="noStrike" dirty="0">
                  <a:solidFill>
                    <a:srgbClr val="00B050"/>
                  </a:solidFill>
                  <a:effectLst/>
                  <a:latin typeface="Bahnschrift" panose="020B0502040204020203" pitchFamily="34" charset="0"/>
                </a:rPr>
                <a:t>2</a:t>
              </a:r>
              <a:r>
                <a:rPr lang="en-NG" sz="2000" b="1" i="0" u="none" strike="noStrike" dirty="0">
                  <a:solidFill>
                    <a:srgbClr val="00B050"/>
                  </a:solidFill>
                  <a:effectLst/>
                  <a:latin typeface="Bahnschrift" panose="020B0502040204020203" pitchFamily="34" charset="0"/>
                </a:rPr>
                <a:t>1.</a:t>
              </a:r>
              <a:r>
                <a:rPr lang="en-US" sz="2000" b="1" dirty="0">
                  <a:solidFill>
                    <a:srgbClr val="00B050"/>
                  </a:solidFill>
                  <a:latin typeface="Bahnschrift" panose="020B0502040204020203" pitchFamily="34" charset="0"/>
                </a:rPr>
                <a:t>65</a:t>
              </a:r>
              <a:r>
                <a:rPr lang="en-US" sz="2000" b="1" i="0" u="none" strike="noStrike" dirty="0">
                  <a:solidFill>
                    <a:srgbClr val="00B050"/>
                  </a:solidFill>
                  <a:effectLst/>
                  <a:latin typeface="Bahnschrift" panose="020B0502040204020203" pitchFamily="34" charset="0"/>
                </a:rPr>
                <a:t>%</a:t>
              </a:r>
              <a:r>
                <a:rPr lang="en-NG" sz="2000" b="1" dirty="0">
                  <a:solidFill>
                    <a:srgbClr val="00B050"/>
                  </a:solidFill>
                  <a:latin typeface="Bahnschrift" panose="020B0502040204020203" pitchFamily="34" charset="0"/>
                </a:rPr>
                <a:t> </a:t>
              </a:r>
              <a:r>
                <a:rPr lang="en-US" sz="2000" b="1" dirty="0">
                  <a:solidFill>
                    <a:srgbClr val="00B050"/>
                  </a:solidFill>
                  <a:latin typeface="Bahnschrift" panose="020B0502040204020203" pitchFamily="34" charset="0"/>
                </a:rPr>
                <a:t> </a:t>
              </a:r>
              <a:r>
                <a:rPr lang="en-US" dirty="0">
                  <a:solidFill>
                    <a:srgbClr val="B87C4C"/>
                  </a:solidFill>
                  <a:latin typeface="Bahnschrift" panose="020B0502040204020203" pitchFamily="34" charset="0"/>
                </a:rPr>
                <a:t>decline in its price when compared to the previous month.</a:t>
              </a:r>
            </a:p>
            <a:p>
              <a:endParaRPr lang="en-US" dirty="0">
                <a:solidFill>
                  <a:srgbClr val="B87C4C"/>
                </a:solidFill>
                <a:latin typeface="Bahnschrift" panose="020B0502040204020203" pitchFamily="34" charset="0"/>
              </a:endParaRPr>
            </a:p>
            <a:p>
              <a:r>
                <a:rPr lang="en-US" dirty="0">
                  <a:solidFill>
                    <a:srgbClr val="B87C4C"/>
                  </a:solidFill>
                  <a:latin typeface="Bahnschrift" panose="020B0502040204020203" pitchFamily="34" charset="0"/>
                </a:rPr>
                <a:t>However, compared to the same period last year, Delta saw a notable</a:t>
              </a:r>
              <a:r>
                <a:rPr lang="en-US" sz="1800" b="1" dirty="0">
                  <a:solidFill>
                    <a:srgbClr val="DC0E0E"/>
                  </a:solidFill>
                  <a:latin typeface="Bahnschrift" panose="020B0502040204020203" pitchFamily="34" charset="0"/>
                </a:rPr>
                <a:t> 53</a:t>
              </a:r>
              <a:r>
                <a:rPr lang="en-NG" sz="1800" b="1" i="0" u="none" strike="noStrike" dirty="0">
                  <a:solidFill>
                    <a:srgbClr val="DC0E0E"/>
                  </a:solidFill>
                  <a:effectLst/>
                  <a:latin typeface="Bahnschrift" panose="020B0502040204020203" pitchFamily="34" charset="0"/>
                </a:rPr>
                <a:t>.2</a:t>
              </a:r>
              <a:r>
                <a:rPr lang="en-US" sz="1800" b="1" i="0" u="none" strike="noStrike" dirty="0">
                  <a:solidFill>
                    <a:srgbClr val="DC0E0E"/>
                  </a:solidFill>
                  <a:effectLst/>
                  <a:latin typeface="Bahnschrift" panose="020B0502040204020203" pitchFamily="34" charset="0"/>
                </a:rPr>
                <a:t>6%</a:t>
              </a:r>
              <a:r>
                <a:rPr lang="en-US" dirty="0">
                  <a:solidFill>
                    <a:srgbClr val="B87C4C"/>
                  </a:solidFill>
                  <a:latin typeface="Bahnschrift" panose="020B0502040204020203" pitchFamily="34" charset="0"/>
                </a:rPr>
                <a:t> increase in price </a:t>
              </a:r>
              <a:endParaRPr lang="en-NG" dirty="0">
                <a:solidFill>
                  <a:srgbClr val="B87C4C"/>
                </a:solidFill>
                <a:latin typeface="Bahnschrift" panose="020B0502040204020203" pitchFamily="34" charset="0"/>
              </a:endParaRPr>
            </a:p>
          </p:txBody>
        </p:sp>
      </p:grpSp>
      <p:sp>
        <p:nvSpPr>
          <p:cNvPr id="35" name="TextBox 34">
            <a:extLst>
              <a:ext uri="{FF2B5EF4-FFF2-40B4-BE49-F238E27FC236}">
                <a16:creationId xmlns:a16="http://schemas.microsoft.com/office/drawing/2014/main" id="{66B0749C-BCFA-44B4-8E90-5F8ABB57C665}"/>
              </a:ext>
            </a:extLst>
          </p:cNvPr>
          <p:cNvSpPr txBox="1"/>
          <p:nvPr/>
        </p:nvSpPr>
        <p:spPr>
          <a:xfrm>
            <a:off x="-1" y="6580801"/>
            <a:ext cx="3398009" cy="3231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500" b="1" dirty="0">
                <a:solidFill>
                  <a:srgbClr val="B87C4C"/>
                </a:solidFill>
              </a:rPr>
              <a:t>Source : National Bureau of Statistics</a:t>
            </a:r>
            <a:endParaRPr lang="en-NG" sz="1500" b="1" dirty="0">
              <a:solidFill>
                <a:srgbClr val="B87C4C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5142513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 advClick="0" advTm="1000">
        <p:split orient="vert"/>
      </p:transition>
    </mc:Choice>
    <mc:Fallback xmlns="">
      <p:transition spd="slow" advClick="0" advTm="1000">
        <p:split orient="vert"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75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75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5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500" fill="hold"/>
                                        <p:tgtEl>
                                          <p:spTgt spid="5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8" dur="500" fill="hold"/>
                                        <p:tgtEl>
                                          <p:spTgt spid="5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9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1" dur="500" fill="hold"/>
                                        <p:tgtEl>
                                          <p:spTgt spid="5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2" dur="500" fill="hold"/>
                                        <p:tgtEl>
                                          <p:spTgt spid="5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3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>
            <a:alpha val="3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ight Triangle 3">
            <a:extLst>
              <a:ext uri="{FF2B5EF4-FFF2-40B4-BE49-F238E27FC236}">
                <a16:creationId xmlns:a16="http://schemas.microsoft.com/office/drawing/2014/main" id="{1A4177E6-5B82-44AF-9CDB-D1980A373276}"/>
              </a:ext>
            </a:extLst>
          </p:cNvPr>
          <p:cNvSpPr/>
          <p:nvPr/>
        </p:nvSpPr>
        <p:spPr>
          <a:xfrm rot="5400000">
            <a:off x="81989" y="-81990"/>
            <a:ext cx="798550" cy="962529"/>
          </a:xfrm>
          <a:prstGeom prst="rtTriangle">
            <a:avLst/>
          </a:prstGeom>
          <a:solidFill>
            <a:srgbClr val="B87C4C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NG"/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66B0749C-BCFA-44B4-8E90-5F8ABB57C665}"/>
              </a:ext>
            </a:extLst>
          </p:cNvPr>
          <p:cNvSpPr txBox="1"/>
          <p:nvPr/>
        </p:nvSpPr>
        <p:spPr>
          <a:xfrm>
            <a:off x="-1" y="6580801"/>
            <a:ext cx="3398009" cy="3231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500" b="1" dirty="0">
                <a:solidFill>
                  <a:srgbClr val="B87C4C"/>
                </a:solidFill>
              </a:rPr>
              <a:t>Source : National Bureau of Statistics</a:t>
            </a:r>
            <a:endParaRPr lang="en-NG" sz="1500" b="1" dirty="0">
              <a:solidFill>
                <a:srgbClr val="B87C4C"/>
              </a:solidFill>
            </a:endParaRPr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0F7B00CC-266A-4D02-BE9C-155427C799F1}"/>
              </a:ext>
            </a:extLst>
          </p:cNvPr>
          <p:cNvSpPr txBox="1"/>
          <p:nvPr/>
        </p:nvSpPr>
        <p:spPr>
          <a:xfrm>
            <a:off x="1528749" y="336885"/>
            <a:ext cx="9134502" cy="461665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pPr algn="ctr"/>
            <a:r>
              <a:rPr lang="en-US" sz="2400" b="1" dirty="0">
                <a:solidFill>
                  <a:srgbClr val="B87C4C"/>
                </a:solidFill>
                <a:latin typeface="Bahnschrift" panose="020B0502040204020203" pitchFamily="34" charset="0"/>
              </a:rPr>
              <a:t>Percentage difference (increase &amp; decrease) across States -5Kg</a:t>
            </a:r>
            <a:endParaRPr lang="en-NG" sz="2400" b="1" dirty="0">
              <a:solidFill>
                <a:srgbClr val="B87C4C"/>
              </a:solidFill>
              <a:latin typeface="Bahnschrift" panose="020B0502040204020203" pitchFamily="34" charset="0"/>
            </a:endParaRP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DDA78183-7D72-47AF-843C-8FDDA363FBF5}"/>
              </a:ext>
            </a:extLst>
          </p:cNvPr>
          <p:cNvSpPr/>
          <p:nvPr/>
        </p:nvSpPr>
        <p:spPr>
          <a:xfrm>
            <a:off x="336175" y="1129355"/>
            <a:ext cx="5577840" cy="5120640"/>
          </a:xfrm>
          <a:prstGeom prst="rect">
            <a:avLst/>
          </a:prstGeom>
          <a:solidFill>
            <a:schemeClr val="bg1">
              <a:lumMod val="95000"/>
              <a:alpha val="16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NG"/>
          </a:p>
        </p:txBody>
      </p:sp>
      <p:sp>
        <p:nvSpPr>
          <p:cNvPr id="37" name="Rectangle 36">
            <a:extLst>
              <a:ext uri="{FF2B5EF4-FFF2-40B4-BE49-F238E27FC236}">
                <a16:creationId xmlns:a16="http://schemas.microsoft.com/office/drawing/2014/main" id="{F8761CED-51BD-4797-A50D-9C722661C2ED}"/>
              </a:ext>
            </a:extLst>
          </p:cNvPr>
          <p:cNvSpPr/>
          <p:nvPr/>
        </p:nvSpPr>
        <p:spPr>
          <a:xfrm>
            <a:off x="6277986" y="1129355"/>
            <a:ext cx="5577840" cy="5120640"/>
          </a:xfrm>
          <a:prstGeom prst="rect">
            <a:avLst/>
          </a:prstGeom>
          <a:solidFill>
            <a:schemeClr val="bg1">
              <a:lumMod val="95000"/>
              <a:alpha val="16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NG"/>
          </a:p>
        </p:txBody>
      </p:sp>
      <mc:AlternateContent xmlns:mc="http://schemas.openxmlformats.org/markup-compatibility/2006" xmlns:cx1="http://schemas.microsoft.com/office/drawing/2015/9/8/chartex">
        <mc:Choice Requires="cx1">
          <p:graphicFrame>
            <p:nvGraphicFramePr>
              <p:cNvPr id="43" name="Chart 42">
                <a:extLst>
                  <a:ext uri="{FF2B5EF4-FFF2-40B4-BE49-F238E27FC236}">
                    <a16:creationId xmlns:a16="http://schemas.microsoft.com/office/drawing/2014/main" id="{E9848B50-3B65-4E7F-9DB6-1035875C0E00}"/>
                  </a:ext>
                </a:extLst>
              </p:cNvPr>
              <p:cNvGraphicFramePr/>
              <p:nvPr>
                <p:extLst>
                  <p:ext uri="{D42A27DB-BD31-4B8C-83A1-F6EECF244321}">
                    <p14:modId xmlns:p14="http://schemas.microsoft.com/office/powerpoint/2010/main" val="1682853161"/>
                  </p:ext>
                </p:extLst>
              </p:nvPr>
            </p:nvGraphicFramePr>
            <p:xfrm>
              <a:off x="6277985" y="3428999"/>
              <a:ext cx="5577839" cy="2820995"/>
            </p:xfrm>
            <a:graphic>
              <a:graphicData uri="http://schemas.microsoft.com/office/drawing/2014/chartex">
                <cx:chart xmlns:cx="http://schemas.microsoft.com/office/drawing/2014/chartex" xmlns:r="http://schemas.openxmlformats.org/officeDocument/2006/relationships" r:id="rId2"/>
              </a:graphicData>
            </a:graphic>
          </p:graphicFrame>
        </mc:Choice>
        <mc:Fallback xmlns="">
          <p:pic>
            <p:nvPicPr>
              <p:cNvPr id="43" name="Chart 42">
                <a:extLst>
                  <a:ext uri="{FF2B5EF4-FFF2-40B4-BE49-F238E27FC236}">
                    <a16:creationId xmlns:a16="http://schemas.microsoft.com/office/drawing/2014/main" id="{E9848B50-3B65-4E7F-9DB6-1035875C0E00}"/>
                  </a:ext>
                </a:extLst>
              </p:cNvPr>
              <p:cNvPicPr>
                <a:picLocks noGrp="1" noRot="1" noChangeAspect="1" noMove="1" noResize="1" noEditPoints="1" noAdjustHandles="1" noChangeArrowheads="1" noChangeShapeType="1"/>
              </p:cNvPicPr>
              <p:nvPr/>
            </p:nvPicPr>
            <p:blipFill>
              <a:blip r:embed="rId8"/>
              <a:stretch>
                <a:fillRect/>
              </a:stretch>
            </p:blipFill>
            <p:spPr>
              <a:xfrm>
                <a:off x="6277985" y="3428999"/>
                <a:ext cx="5577839" cy="2820995"/>
              </a:xfrm>
              <a:prstGeom prst="rect">
                <a:avLst/>
              </a:prstGeom>
            </p:spPr>
          </p:pic>
        </mc:Fallback>
      </mc:AlternateContent>
      <p:graphicFrame>
        <p:nvGraphicFramePr>
          <p:cNvPr id="50" name="Chart 49">
            <a:extLst>
              <a:ext uri="{FF2B5EF4-FFF2-40B4-BE49-F238E27FC236}">
                <a16:creationId xmlns:a16="http://schemas.microsoft.com/office/drawing/2014/main" id="{D8963818-C619-417B-A17C-5913FA618A19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639355093"/>
              </p:ext>
            </p:extLst>
          </p:nvPr>
        </p:nvGraphicFramePr>
        <p:xfrm>
          <a:off x="336174" y="2366682"/>
          <a:ext cx="5540188" cy="3883313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9"/>
          </a:graphicData>
        </a:graphic>
      </p:graphicFrame>
      <p:sp>
        <p:nvSpPr>
          <p:cNvPr id="7" name="TextBox 6">
            <a:extLst>
              <a:ext uri="{FF2B5EF4-FFF2-40B4-BE49-F238E27FC236}">
                <a16:creationId xmlns:a16="http://schemas.microsoft.com/office/drawing/2014/main" id="{A46F63B1-C9CC-4606-B9ED-24763567A10F}"/>
              </a:ext>
            </a:extLst>
          </p:cNvPr>
          <p:cNvSpPr txBox="1"/>
          <p:nvPr/>
        </p:nvSpPr>
        <p:spPr>
          <a:xfrm>
            <a:off x="496195" y="1277471"/>
            <a:ext cx="5257800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dirty="0">
                <a:latin typeface="Bahnschrift" panose="020B0502040204020203" pitchFamily="34" charset="0"/>
              </a:rPr>
              <a:t>The </a:t>
            </a:r>
            <a:r>
              <a:rPr lang="en-US" sz="1600" b="1" dirty="0">
                <a:solidFill>
                  <a:srgbClr val="DC0E0E"/>
                </a:solidFill>
                <a:latin typeface="Bahnschrift" panose="020B0502040204020203" pitchFamily="34" charset="0"/>
              </a:rPr>
              <a:t>Year-over-Year</a:t>
            </a:r>
            <a:r>
              <a:rPr lang="en-US" sz="1600" dirty="0">
                <a:solidFill>
                  <a:srgbClr val="DC0E0E"/>
                </a:solidFill>
                <a:latin typeface="Bahnschrift" panose="020B0502040204020203" pitchFamily="34" charset="0"/>
              </a:rPr>
              <a:t> </a:t>
            </a:r>
            <a:r>
              <a:rPr lang="en-US" sz="1600" dirty="0">
                <a:latin typeface="Bahnschrift" panose="020B0502040204020203" pitchFamily="34" charset="0"/>
              </a:rPr>
              <a:t>analysis shows a strong increase in the average price of cooking gas across these top five states in July 2024 compared to July 2023</a:t>
            </a:r>
            <a:endParaRPr lang="en-NG" sz="1600" dirty="0">
              <a:latin typeface="Bahnschrift" panose="020B0502040204020203" pitchFamily="34" charset="0"/>
            </a:endParaRPr>
          </a:p>
        </p:txBody>
      </p:sp>
      <p:sp>
        <p:nvSpPr>
          <p:cNvPr id="60" name="TextBox 59">
            <a:extLst>
              <a:ext uri="{FF2B5EF4-FFF2-40B4-BE49-F238E27FC236}">
                <a16:creationId xmlns:a16="http://schemas.microsoft.com/office/drawing/2014/main" id="{2D7E0CC2-8802-4908-BF57-7C6965E7AE00}"/>
              </a:ext>
            </a:extLst>
          </p:cNvPr>
          <p:cNvSpPr txBox="1"/>
          <p:nvPr/>
        </p:nvSpPr>
        <p:spPr>
          <a:xfrm>
            <a:off x="6438006" y="1277471"/>
            <a:ext cx="5257800" cy="10772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dirty="0">
                <a:latin typeface="Bahnschrift" panose="020B0502040204020203" pitchFamily="34" charset="0"/>
              </a:rPr>
              <a:t>The </a:t>
            </a:r>
            <a:r>
              <a:rPr lang="en-US" sz="1600" b="1" dirty="0">
                <a:solidFill>
                  <a:srgbClr val="00B050"/>
                </a:solidFill>
                <a:latin typeface="Bahnschrift" panose="020B0502040204020203" pitchFamily="34" charset="0"/>
              </a:rPr>
              <a:t>Month-over-Month</a:t>
            </a:r>
            <a:r>
              <a:rPr lang="en-US" sz="1600" dirty="0">
                <a:solidFill>
                  <a:srgbClr val="DC0E0E"/>
                </a:solidFill>
                <a:latin typeface="Bahnschrift" panose="020B0502040204020203" pitchFamily="34" charset="0"/>
              </a:rPr>
              <a:t> </a:t>
            </a:r>
            <a:r>
              <a:rPr lang="en-US" sz="1600" dirty="0">
                <a:latin typeface="Bahnschrift" panose="020B0502040204020203" pitchFamily="34" charset="0"/>
              </a:rPr>
              <a:t>analysis shows a </a:t>
            </a:r>
            <a:r>
              <a:rPr lang="en-US" sz="1600">
                <a:latin typeface="Bahnschrift" panose="020B0502040204020203" pitchFamily="34" charset="0"/>
              </a:rPr>
              <a:t>strong decrease </a:t>
            </a:r>
            <a:r>
              <a:rPr lang="en-US" sz="1600" dirty="0">
                <a:latin typeface="Bahnschrift" panose="020B0502040204020203" pitchFamily="34" charset="0"/>
              </a:rPr>
              <a:t>in the average price of cooking gas across these top five states in July 2024 compared to July 2023</a:t>
            </a:r>
            <a:endParaRPr lang="en-NG" sz="1600" dirty="0">
              <a:latin typeface="Bahnschrift" panose="020B0502040204020203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23409201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 advClick="0" advTm="1000">
        <p:split orient="vert"/>
      </p:transition>
    </mc:Choice>
    <mc:Fallback xmlns="">
      <p:transition spd="slow" advClick="0" advTm="1000">
        <p:split orient="vert"/>
      </p:transition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: Rounded Corners 3">
            <a:extLst>
              <a:ext uri="{FF2B5EF4-FFF2-40B4-BE49-F238E27FC236}">
                <a16:creationId xmlns:a16="http://schemas.microsoft.com/office/drawing/2014/main" id="{9D2E5F35-24C3-4657-A8DD-3D899E3CA634}"/>
              </a:ext>
            </a:extLst>
          </p:cNvPr>
          <p:cNvSpPr/>
          <p:nvPr/>
        </p:nvSpPr>
        <p:spPr>
          <a:xfrm rot="19844363">
            <a:off x="9184514" y="2116555"/>
            <a:ext cx="2561645" cy="2492999"/>
          </a:xfrm>
          <a:prstGeom prst="roundRect">
            <a:avLst/>
          </a:prstGeom>
          <a:solidFill>
            <a:srgbClr val="D7C097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NG"/>
          </a:p>
        </p:txBody>
      </p:sp>
      <p:sp>
        <p:nvSpPr>
          <p:cNvPr id="9" name="Rectangle: Rounded Corners 8">
            <a:extLst>
              <a:ext uri="{FF2B5EF4-FFF2-40B4-BE49-F238E27FC236}">
                <a16:creationId xmlns:a16="http://schemas.microsoft.com/office/drawing/2014/main" id="{7806AE6C-B08C-4079-B211-F274A3241634}"/>
              </a:ext>
            </a:extLst>
          </p:cNvPr>
          <p:cNvSpPr/>
          <p:nvPr/>
        </p:nvSpPr>
        <p:spPr>
          <a:xfrm rot="19844363">
            <a:off x="8276999" y="-446404"/>
            <a:ext cx="2561645" cy="2492999"/>
          </a:xfrm>
          <a:prstGeom prst="roundRect">
            <a:avLst/>
          </a:prstGeom>
          <a:solidFill>
            <a:srgbClr val="B87C4C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NG"/>
          </a:p>
        </p:txBody>
      </p:sp>
      <p:sp>
        <p:nvSpPr>
          <p:cNvPr id="10" name="Rectangle: Rounded Corners 9">
            <a:extLst>
              <a:ext uri="{FF2B5EF4-FFF2-40B4-BE49-F238E27FC236}">
                <a16:creationId xmlns:a16="http://schemas.microsoft.com/office/drawing/2014/main" id="{76595AF5-2F73-4177-8067-267611C60E8B}"/>
              </a:ext>
            </a:extLst>
          </p:cNvPr>
          <p:cNvSpPr/>
          <p:nvPr/>
        </p:nvSpPr>
        <p:spPr>
          <a:xfrm rot="19844363">
            <a:off x="10263479" y="4558690"/>
            <a:ext cx="2561645" cy="2492999"/>
          </a:xfrm>
          <a:prstGeom prst="roundRect">
            <a:avLst/>
          </a:prstGeom>
          <a:solidFill>
            <a:srgbClr val="D7C097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NG"/>
          </a:p>
        </p:txBody>
      </p:sp>
      <p:sp>
        <p:nvSpPr>
          <p:cNvPr id="11" name="Rectangle: Rounded Corners 10">
            <a:extLst>
              <a:ext uri="{FF2B5EF4-FFF2-40B4-BE49-F238E27FC236}">
                <a16:creationId xmlns:a16="http://schemas.microsoft.com/office/drawing/2014/main" id="{6B7BD6D0-6553-4C17-B283-5829641BCF8C}"/>
              </a:ext>
            </a:extLst>
          </p:cNvPr>
          <p:cNvSpPr/>
          <p:nvPr/>
        </p:nvSpPr>
        <p:spPr>
          <a:xfrm rot="19844363">
            <a:off x="11406683" y="-481043"/>
            <a:ext cx="1351206" cy="1385110"/>
          </a:xfrm>
          <a:prstGeom prst="roundRect">
            <a:avLst/>
          </a:prstGeom>
          <a:noFill/>
          <a:ln w="76200">
            <a:solidFill>
              <a:srgbClr val="D7C097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NG"/>
          </a:p>
        </p:txBody>
      </p:sp>
      <p:sp>
        <p:nvSpPr>
          <p:cNvPr id="12" name="Rectangle: Rounded Corners 11">
            <a:extLst>
              <a:ext uri="{FF2B5EF4-FFF2-40B4-BE49-F238E27FC236}">
                <a16:creationId xmlns:a16="http://schemas.microsoft.com/office/drawing/2014/main" id="{6FAA7FDF-88E3-456C-AB84-941F64F31177}"/>
              </a:ext>
            </a:extLst>
          </p:cNvPr>
          <p:cNvSpPr/>
          <p:nvPr/>
        </p:nvSpPr>
        <p:spPr>
          <a:xfrm rot="19844363">
            <a:off x="11406683" y="453408"/>
            <a:ext cx="1351206" cy="1385110"/>
          </a:xfrm>
          <a:prstGeom prst="roundRect">
            <a:avLst/>
          </a:prstGeom>
          <a:noFill/>
          <a:ln w="76200">
            <a:solidFill>
              <a:srgbClr val="B87C4C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NG"/>
          </a:p>
        </p:txBody>
      </p:sp>
      <p:sp>
        <p:nvSpPr>
          <p:cNvPr id="13" name="Rectangle: Rounded Corners 12">
            <a:extLst>
              <a:ext uri="{FF2B5EF4-FFF2-40B4-BE49-F238E27FC236}">
                <a16:creationId xmlns:a16="http://schemas.microsoft.com/office/drawing/2014/main" id="{E088D8FF-EA07-4047-BAED-57F4C4BDCDF4}"/>
              </a:ext>
            </a:extLst>
          </p:cNvPr>
          <p:cNvSpPr/>
          <p:nvPr/>
        </p:nvSpPr>
        <p:spPr>
          <a:xfrm rot="19844363">
            <a:off x="-254358" y="5174843"/>
            <a:ext cx="1351206" cy="1385110"/>
          </a:xfrm>
          <a:prstGeom prst="roundRect">
            <a:avLst/>
          </a:prstGeom>
          <a:noFill/>
          <a:ln w="76200">
            <a:solidFill>
              <a:srgbClr val="D7C097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NG"/>
          </a:p>
        </p:txBody>
      </p:sp>
      <p:sp>
        <p:nvSpPr>
          <p:cNvPr id="14" name="Rectangle: Rounded Corners 13">
            <a:extLst>
              <a:ext uri="{FF2B5EF4-FFF2-40B4-BE49-F238E27FC236}">
                <a16:creationId xmlns:a16="http://schemas.microsoft.com/office/drawing/2014/main" id="{CA1A6F43-8994-49AD-B8A8-CFA1364A6179}"/>
              </a:ext>
            </a:extLst>
          </p:cNvPr>
          <p:cNvSpPr/>
          <p:nvPr/>
        </p:nvSpPr>
        <p:spPr>
          <a:xfrm rot="19844363">
            <a:off x="-445259" y="6165445"/>
            <a:ext cx="1351206" cy="1385110"/>
          </a:xfrm>
          <a:prstGeom prst="roundRect">
            <a:avLst/>
          </a:prstGeom>
          <a:noFill/>
          <a:ln w="76200">
            <a:solidFill>
              <a:srgbClr val="B87C4C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NG"/>
          </a:p>
        </p:txBody>
      </p:sp>
      <p:sp>
        <p:nvSpPr>
          <p:cNvPr id="15" name="Rectangle: Rounded Corners 14">
            <a:extLst>
              <a:ext uri="{FF2B5EF4-FFF2-40B4-BE49-F238E27FC236}">
                <a16:creationId xmlns:a16="http://schemas.microsoft.com/office/drawing/2014/main" id="{C6C24817-80AC-4CC2-9D65-6F32B1355F4A}"/>
              </a:ext>
            </a:extLst>
          </p:cNvPr>
          <p:cNvSpPr/>
          <p:nvPr/>
        </p:nvSpPr>
        <p:spPr>
          <a:xfrm rot="19844363">
            <a:off x="7824196" y="5867208"/>
            <a:ext cx="2561645" cy="2492999"/>
          </a:xfrm>
          <a:prstGeom prst="roundRect">
            <a:avLst/>
          </a:prstGeom>
          <a:solidFill>
            <a:srgbClr val="B87C4C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NG"/>
          </a:p>
        </p:txBody>
      </p:sp>
      <p:grpSp>
        <p:nvGrpSpPr>
          <p:cNvPr id="5" name="Group 4">
            <a:extLst>
              <a:ext uri="{FF2B5EF4-FFF2-40B4-BE49-F238E27FC236}">
                <a16:creationId xmlns:a16="http://schemas.microsoft.com/office/drawing/2014/main" id="{A14A2FB3-1431-4345-95F7-A833FB2C0D45}"/>
              </a:ext>
            </a:extLst>
          </p:cNvPr>
          <p:cNvGrpSpPr/>
          <p:nvPr/>
        </p:nvGrpSpPr>
        <p:grpSpPr>
          <a:xfrm>
            <a:off x="1881371" y="2967335"/>
            <a:ext cx="6403543" cy="2618303"/>
            <a:chOff x="1881371" y="2967335"/>
            <a:chExt cx="6403543" cy="2618303"/>
          </a:xfrm>
        </p:grpSpPr>
        <p:sp>
          <p:nvSpPr>
            <p:cNvPr id="18" name="TextBox 17">
              <a:extLst>
                <a:ext uri="{FF2B5EF4-FFF2-40B4-BE49-F238E27FC236}">
                  <a16:creationId xmlns:a16="http://schemas.microsoft.com/office/drawing/2014/main" id="{E9C616D6-1115-4ACE-A410-03727EB9DEEE}"/>
                </a:ext>
              </a:extLst>
            </p:cNvPr>
            <p:cNvSpPr txBox="1"/>
            <p:nvPr/>
          </p:nvSpPr>
          <p:spPr>
            <a:xfrm>
              <a:off x="1881371" y="2967335"/>
              <a:ext cx="6403543" cy="923330"/>
            </a:xfrm>
            <a:prstGeom prst="rect">
              <a:avLst/>
            </a:prstGeom>
            <a:noFill/>
          </p:spPr>
          <p:txBody>
            <a:bodyPr wrap="square" rtlCol="0" anchor="ctr">
              <a:spAutoFit/>
            </a:bodyPr>
            <a:lstStyle/>
            <a:p>
              <a:pPr algn="ctr"/>
              <a:r>
                <a:rPr lang="en-US" sz="5400" b="1" dirty="0">
                  <a:solidFill>
                    <a:srgbClr val="B87C4C"/>
                  </a:solidFill>
                  <a:latin typeface="Bahnschrift" panose="020B0502040204020203" pitchFamily="34" charset="0"/>
                  <a:cs typeface="Arial" panose="020B0604020202020204" pitchFamily="34" charset="0"/>
                </a:rPr>
                <a:t>THANK YOU</a:t>
              </a:r>
              <a:endParaRPr lang="en-NG" sz="5400" b="1" dirty="0">
                <a:solidFill>
                  <a:srgbClr val="B87C4C"/>
                </a:solidFill>
                <a:latin typeface="Bahnschrift" panose="020B0502040204020203" pitchFamily="34" charset="0"/>
                <a:cs typeface="Arial" panose="020B0604020202020204" pitchFamily="34" charset="0"/>
              </a:endParaRPr>
            </a:p>
          </p:txBody>
        </p:sp>
        <p:pic>
          <p:nvPicPr>
            <p:cNvPr id="3" name="Graphic 2" descr="Thumbs up sign with solid fill">
              <a:extLst>
                <a:ext uri="{FF2B5EF4-FFF2-40B4-BE49-F238E27FC236}">
                  <a16:creationId xmlns:a16="http://schemas.microsoft.com/office/drawing/2014/main" id="{C75AC440-EFBE-4E38-AE62-10B5A1662EE7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4148957" y="3804374"/>
              <a:ext cx="1855818" cy="1781264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204000401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 advClick="0" advTm="1000">
        <p:split orient="vert"/>
      </p:transition>
    </mc:Choice>
    <mc:Fallback xmlns="">
      <p:transition spd="slow" advClick="0" advTm="1000">
        <p:split orient="vert"/>
      </p:transition>
    </mc:Fallback>
  </mc:AlternateContent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2082</TotalTime>
  <Words>462</Words>
  <Application>Microsoft Office PowerPoint</Application>
  <PresentationFormat>Widescreen</PresentationFormat>
  <Paragraphs>77</Paragraphs>
  <Slides>6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11" baseType="lpstr">
      <vt:lpstr>Arial</vt:lpstr>
      <vt:lpstr>Bahnschrift</vt:lpstr>
      <vt:lpstr>Calibri</vt:lpstr>
      <vt:lpstr>Calibri Light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crystabel isioma-obiasili</dc:creator>
  <cp:lastModifiedBy>crystabel isioma-obiasili</cp:lastModifiedBy>
  <cp:revision>53</cp:revision>
  <dcterms:created xsi:type="dcterms:W3CDTF">2025-11-26T17:35:34Z</dcterms:created>
  <dcterms:modified xsi:type="dcterms:W3CDTF">2025-11-29T20:30:43Z</dcterms:modified>
</cp:coreProperties>
</file>